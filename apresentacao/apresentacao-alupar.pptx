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O objetivo é sair com decisões, não com informação: cinco nomes, cinco dados e a autorização do Marco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pelo que dói. O item do domínio já tem dono e pode ser executado antes mesmo desta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existe para justificar o dimensionamento. Nenhum número é estimado.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é redesenho — e é isso que permite que o site novo caiba na mensalidade que a Alupar já paga.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decisão for WordPress por outra razão, ela é legítima — mas o custo de operação em 24 meses precisa entrar na conta antes da assinatura.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pedindo as duas coisas que não podem sair da reunião em aberto.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82712" y="0"/>
            <a:ext cx="4206240" cy="6858000"/>
          </a:xfrm>
          <a:prstGeom prst="rect">
            <a:avLst/>
          </a:prstGeom>
          <a:solidFill>
            <a:srgbClr val="00387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82712" y="0"/>
            <a:ext cx="420624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spc="600" kern="0" dirty="0">
                <a:solidFill>
                  <a:srgbClr val="004F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ALUPAR</a:t>
            </a:r>
            <a:endParaRPr lang="en-US" sz="12000" dirty="0"/>
          </a:p>
        </p:txBody>
      </p:sp>
      <p:sp>
        <p:nvSpPr>
          <p:cNvPr id="4" name="Shape 2"/>
          <p:cNvSpPr/>
          <p:nvPr/>
        </p:nvSpPr>
        <p:spPr>
          <a:xfrm>
            <a:off x="713232" y="2011680"/>
            <a:ext cx="2103120" cy="118872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22860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institucional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3182112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CFE0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Diagnóstico, plano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CFE0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proposta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42245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7FD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alupar.com.br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13232" y="5742432"/>
            <a:ext cx="7132320" cy="10973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590702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Apresentado pela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ness</a:t>
            </a:r>
            <a:pPr indent="0" marL="0">
              <a:buNone/>
            </a:pPr>
            <a:r>
              <a:rPr lang="en-US" sz="1200" dirty="0">
                <a:solidFill>
                  <a:srgbClr val="00ADE8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FB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Setembro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2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82712" y="0"/>
            <a:ext cx="4206240" cy="6858000"/>
          </a:xfrm>
          <a:prstGeom prst="rect">
            <a:avLst/>
          </a:prstGeom>
          <a:solidFill>
            <a:srgbClr val="00387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82712" y="96012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0" b="1" dirty="0">
                <a:solidFill>
                  <a:srgbClr val="004F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0" dirty="0"/>
          </a:p>
        </p:txBody>
      </p:sp>
      <p:sp>
        <p:nvSpPr>
          <p:cNvPr id="4" name="Shape 2"/>
          <p:cNvSpPr/>
          <p:nvPr/>
        </p:nvSpPr>
        <p:spPr>
          <a:xfrm>
            <a:off x="713232" y="2788920"/>
            <a:ext cx="1371600" cy="9144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3035808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diagnóstico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39319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foi medido no site público, em 01 e 02 de setembro de 2026. Nenhum número aqui foi estimado — todos são reproduzíveis.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institucional Alupar  ·  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ness</a:t>
            </a:r>
            <a:pPr indent="0" marL="0">
              <a:buNone/>
            </a:pPr>
            <a:r>
              <a:rPr lang="en-US" sz="850" dirty="0">
                <a:solidFill>
                  <a:srgbClr val="00ADE8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.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0835640" y="63825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" y="475488"/>
            <a:ext cx="274320" cy="6858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5568" y="402336"/>
            <a:ext cx="10360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· NÚMEROS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713232"/>
            <a:ext cx="10762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site está hoje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243584"/>
            <a:ext cx="92557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medições que resumem o estado do institucional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13232" y="1645920"/>
            <a:ext cx="10762488" cy="10973"/>
          </a:xfrm>
          <a:prstGeom prst="rect">
            <a:avLst/>
          </a:prstGeom>
          <a:solidFill>
            <a:srgbClr val="E2E7E4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901952"/>
            <a:ext cx="2498598" cy="1691640"/>
          </a:xfrm>
          <a:prstGeom prst="rect">
            <a:avLst/>
          </a:prstGeom>
          <a:solidFill>
            <a:srgbClr val="F4F6F5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901952"/>
            <a:ext cx="50292" cy="1691640"/>
          </a:xfrm>
          <a:prstGeom prst="rect">
            <a:avLst/>
          </a:prstGeom>
          <a:solidFill>
            <a:srgbClr val="A82F2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87552" y="2103120"/>
            <a:ext cx="204139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A82F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4200" dirty="0"/>
          </a:p>
        </p:txBody>
      </p:sp>
      <p:sp>
        <p:nvSpPr>
          <p:cNvPr id="10" name="Shape 8"/>
          <p:cNvSpPr/>
          <p:nvPr/>
        </p:nvSpPr>
        <p:spPr>
          <a:xfrm>
            <a:off x="987552" y="2834640"/>
            <a:ext cx="502920" cy="10973"/>
          </a:xfrm>
          <a:prstGeom prst="rect">
            <a:avLst/>
          </a:prstGeom>
          <a:solidFill>
            <a:srgbClr val="E2E7E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87552" y="2944368"/>
            <a:ext cx="20413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dias com o endereço sem “www” quebrado em HTTPS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67862" y="1901952"/>
            <a:ext cx="2498598" cy="1691640"/>
          </a:xfrm>
          <a:prstGeom prst="rect">
            <a:avLst/>
          </a:prstGeom>
          <a:solidFill>
            <a:srgbClr val="F4F6F5"/>
          </a:solidFill>
          <a:ln/>
        </p:spPr>
      </p:sp>
      <p:sp>
        <p:nvSpPr>
          <p:cNvPr id="13" name="Shape 11"/>
          <p:cNvSpPr/>
          <p:nvPr/>
        </p:nvSpPr>
        <p:spPr>
          <a:xfrm>
            <a:off x="3467862" y="1901952"/>
            <a:ext cx="50292" cy="1691640"/>
          </a:xfrm>
          <a:prstGeom prst="rect">
            <a:avLst/>
          </a:prstGeom>
          <a:solidFill>
            <a:srgbClr val="A82F2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742182" y="2103120"/>
            <a:ext cx="204139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A82F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1.280</a:t>
            </a:r>
            <a:endParaRPr lang="en-US" sz="4200" dirty="0"/>
          </a:p>
        </p:txBody>
      </p:sp>
      <p:sp>
        <p:nvSpPr>
          <p:cNvPr id="15" name="Shape 13"/>
          <p:cNvSpPr/>
          <p:nvPr/>
        </p:nvSpPr>
        <p:spPr>
          <a:xfrm>
            <a:off x="3742182" y="2834640"/>
            <a:ext cx="502920" cy="10973"/>
          </a:xfrm>
          <a:prstGeom prst="rect">
            <a:avLst/>
          </a:prstGeom>
          <a:solidFill>
            <a:srgbClr val="E2E7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742182" y="2944368"/>
            <a:ext cx="20413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dias desde a última notícia publicada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22492" y="1901952"/>
            <a:ext cx="2498598" cy="1691640"/>
          </a:xfrm>
          <a:prstGeom prst="rect">
            <a:avLst/>
          </a:prstGeom>
          <a:solidFill>
            <a:srgbClr val="F4F6F5"/>
          </a:solidFill>
          <a:ln/>
        </p:spPr>
      </p:sp>
      <p:sp>
        <p:nvSpPr>
          <p:cNvPr id="18" name="Shape 16"/>
          <p:cNvSpPr/>
          <p:nvPr/>
        </p:nvSpPr>
        <p:spPr>
          <a:xfrm>
            <a:off x="6222492" y="1901952"/>
            <a:ext cx="50292" cy="1691640"/>
          </a:xfrm>
          <a:prstGeom prst="rect">
            <a:avLst/>
          </a:prstGeom>
          <a:solidFill>
            <a:srgbClr val="8A641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96812" y="2103120"/>
            <a:ext cx="204139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8A6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2,19 MB</a:t>
            </a:r>
            <a:endParaRPr lang="en-US" sz="4200" dirty="0"/>
          </a:p>
        </p:txBody>
      </p:sp>
      <p:sp>
        <p:nvSpPr>
          <p:cNvPr id="20" name="Shape 18"/>
          <p:cNvSpPr/>
          <p:nvPr/>
        </p:nvSpPr>
        <p:spPr>
          <a:xfrm>
            <a:off x="6496812" y="2834640"/>
            <a:ext cx="502920" cy="10973"/>
          </a:xfrm>
          <a:prstGeom prst="rect">
            <a:avLst/>
          </a:prstGeom>
          <a:solidFill>
            <a:srgbClr val="E2E7E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96812" y="2944368"/>
            <a:ext cx="20413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peso na página inicial — 84% em imagens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977122" y="1901952"/>
            <a:ext cx="2498598" cy="1691640"/>
          </a:xfrm>
          <a:prstGeom prst="rect">
            <a:avLst/>
          </a:prstGeom>
          <a:solidFill>
            <a:srgbClr val="F4F6F5"/>
          </a:solidFill>
          <a:ln/>
        </p:spPr>
      </p:sp>
      <p:sp>
        <p:nvSpPr>
          <p:cNvPr id="23" name="Shape 21"/>
          <p:cNvSpPr/>
          <p:nvPr/>
        </p:nvSpPr>
        <p:spPr>
          <a:xfrm>
            <a:off x="8977122" y="1901952"/>
            <a:ext cx="50292" cy="1691640"/>
          </a:xfrm>
          <a:prstGeom prst="rect">
            <a:avLst/>
          </a:prstGeom>
          <a:solidFill>
            <a:srgbClr val="8A641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251442" y="2103120"/>
            <a:ext cx="204139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8A6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4200" dirty="0"/>
          </a:p>
        </p:txBody>
      </p:sp>
      <p:sp>
        <p:nvSpPr>
          <p:cNvPr id="25" name="Shape 23"/>
          <p:cNvSpPr/>
          <p:nvPr/>
        </p:nvSpPr>
        <p:spPr>
          <a:xfrm>
            <a:off x="9251442" y="2834640"/>
            <a:ext cx="502920" cy="10973"/>
          </a:xfrm>
          <a:prstGeom prst="rect">
            <a:avLst/>
          </a:prstGeom>
          <a:solidFill>
            <a:srgbClr val="E2E7E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251442" y="2944368"/>
            <a:ext cx="20413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endereços duplicados, públicos e indexáveis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13232" y="3913632"/>
            <a:ext cx="10762488" cy="1298448"/>
          </a:xfrm>
          <a:prstGeom prst="rect">
            <a:avLst/>
          </a:prstGeom>
          <a:solidFill>
            <a:srgbClr val="FAEAE8"/>
          </a:solidFill>
          <a:ln/>
        </p:spPr>
      </p:sp>
      <p:sp>
        <p:nvSpPr>
          <p:cNvPr id="28" name="Shape 26"/>
          <p:cNvSpPr/>
          <p:nvPr/>
        </p:nvSpPr>
        <p:spPr>
          <a:xfrm>
            <a:off x="713232" y="3913632"/>
            <a:ext cx="50292" cy="1298448"/>
          </a:xfrm>
          <a:prstGeom prst="rect">
            <a:avLst/>
          </a:prstGeom>
          <a:solidFill>
            <a:srgbClr val="A82F2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60704" y="4096512"/>
            <a:ext cx="10067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82F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mais barato de corrigir — e o mais fácil de não enxergar</a:t>
            </a:r>
            <a:endParaRPr lang="en-US" sz="1450" dirty="0"/>
          </a:p>
        </p:txBody>
      </p:sp>
      <p:sp>
        <p:nvSpPr>
          <p:cNvPr id="30" name="Text 28"/>
          <p:cNvSpPr txBox="1"/>
          <p:nvPr/>
        </p:nvSpPr>
        <p:spPr>
          <a:xfrm>
            <a:off x="1060704" y="4425696"/>
            <a:ext cx="10067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endereço sem “www” funciona em http, mas quebra em https: o certificado venceu em 05/05/2026. O navegador tenta https, desiste e volta para http sozinho, então quase ninguém vê o erro. Veem quem usa modo “somente https”, e todo link escrito como https://alupar.com.br em e-mail, PDF ou material impresso.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5413248"/>
            <a:ext cx="1076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os números são reproduzíveis. Nenhum foi estimado.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13232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institucional Alupar  ·  </a:t>
            </a:r>
            <a:pPr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ness</a:t>
            </a:r>
            <a:pPr indent="0" marL="0">
              <a:buNone/>
            </a:pPr>
            <a:r>
              <a:rPr lang="en-US" sz="850" dirty="0">
                <a:solidFill>
                  <a:srgbClr val="00ADE8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.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0835640" y="63825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" y="475488"/>
            <a:ext cx="274320" cy="6858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5568" y="402336"/>
            <a:ext cx="10360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· EXPERIÊNCIA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713232"/>
            <a:ext cx="10762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um visitante encontra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243584"/>
            <a:ext cx="92557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problemas que qualquer pessoa percebe, sem abrir o código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13232" y="1645920"/>
            <a:ext cx="10762488" cy="10973"/>
          </a:xfrm>
          <a:prstGeom prst="rect">
            <a:avLst/>
          </a:prstGeom>
          <a:solidFill>
            <a:srgbClr val="E2E7E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93852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E0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938528"/>
            <a:ext cx="9939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F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Conteúdo parado em março de 2023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231136"/>
            <a:ext cx="9939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última notícia tem 1.280 dias. No rotativo ainda giram um banner de COVID-19 de 2021 e três imagens de 2017.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13232" y="2724912"/>
            <a:ext cx="10762488" cy="7315"/>
          </a:xfrm>
          <a:prstGeom prst="rect">
            <a:avLst/>
          </a:prstGeom>
          <a:solidFill>
            <a:srgbClr val="E2E7E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81635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E0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816352"/>
            <a:ext cx="9939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F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home não diz o que a Alupar faz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3108960"/>
            <a:ext cx="9939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Banners, notícias, vídeo e três ícones. Em nenhum lugar está escrito o que a empresa é ou onde atua.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13232" y="3602736"/>
            <a:ext cx="10762488" cy="7315"/>
          </a:xfrm>
          <a:prstGeom prst="rect">
            <a:avLst/>
          </a:prstGeom>
          <a:solidFill>
            <a:srgbClr val="E2E7E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694176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E0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694176"/>
            <a:ext cx="9939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F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site pesa quatro vezes o que deveria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986784"/>
            <a:ext cx="9939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2,19 MB na página inicial. Duas fotos de 2017 somam 1,28 MB. Nada é otimizado para celular.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13232" y="4480560"/>
            <a:ext cx="10762488" cy="7315"/>
          </a:xfrm>
          <a:prstGeom prst="rect">
            <a:avLst/>
          </a:prstGeom>
          <a:solidFill>
            <a:srgbClr val="E2E7E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13232" y="457200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E0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572000"/>
            <a:ext cx="9939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F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 com deficiência não conseguem usar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864608"/>
            <a:ext cx="9939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imagem da home tem descrição. O formulário tem cinco campos e um único rótulo.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13232" y="5358384"/>
            <a:ext cx="10762488" cy="7315"/>
          </a:xfrm>
          <a:prstGeom prst="rect">
            <a:avLst/>
          </a:prstGeom>
          <a:solidFill>
            <a:srgbClr val="E2E7E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13232" y="544982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E0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5449824"/>
            <a:ext cx="9939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F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Inglês e espanhol quebram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463040" y="5742432"/>
            <a:ext cx="9939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páginas não existem nesses idiomas — e o site responde com erro em vez de mostrar o português.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institucional Alupar  ·  </a:t>
            </a:r>
            <a:pPr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ness</a:t>
            </a:r>
            <a:pPr indent="0" marL="0">
              <a:buNone/>
            </a:pPr>
            <a:r>
              <a:rPr lang="en-US" sz="850" dirty="0">
                <a:solidFill>
                  <a:srgbClr val="00ADE8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.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0835640" y="63825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" y="475488"/>
            <a:ext cx="274320" cy="6858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5568" y="402336"/>
            <a:ext cx="10360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· INVENTÁRIO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713232"/>
            <a:ext cx="10762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tamanho real do site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243584"/>
            <a:ext cx="92557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no índice do próprio site — e bem maior do que o menu deixa ver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13232" y="1645920"/>
            <a:ext cx="10762488" cy="10973"/>
          </a:xfrm>
          <a:prstGeom prst="rect">
            <a:avLst/>
          </a:prstGeom>
          <a:solidFill>
            <a:srgbClr val="E2E7E4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901952"/>
          <a:ext cx="10762488" cy="914400"/>
        </p:xfrm>
        <a:graphic>
          <a:graphicData uri="http://schemas.openxmlformats.org/drawingml/2006/table">
            <a:tbl>
              <a:tblPr/>
              <a:tblGrid>
                <a:gridCol w="3337560"/>
                <a:gridCol w="1234440"/>
                <a:gridCol w="6190488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de conteúdo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F9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F9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Observação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F9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Páginas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menu mostra 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Notícias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mais 84 traduções para inglês e espanhol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Perguntas frequentes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maior tipo de conteúdo do site, e fora do menu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Arquivos de mídia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imagens, documentos e PDFs indexados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Banners do rotativo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inclui o banner de COVID-19 de 2021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Blocos de empresas e temas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alimentam as páginas internas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Vídeos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13232" y="5138928"/>
            <a:ext cx="10762488" cy="1005840"/>
          </a:xfrm>
          <a:prstGeom prst="rect">
            <a:avLst/>
          </a:prstGeom>
          <a:solidFill>
            <a:srgbClr val="EAF1F9"/>
          </a:solidFill>
          <a:ln/>
        </p:spPr>
      </p:sp>
      <p:sp>
        <p:nvSpPr>
          <p:cNvPr id="9" name="Shape 6"/>
          <p:cNvSpPr/>
          <p:nvPr/>
        </p:nvSpPr>
        <p:spPr>
          <a:xfrm>
            <a:off x="713232" y="5138928"/>
            <a:ext cx="50292" cy="1005840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60704" y="5321808"/>
            <a:ext cx="100675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levantamento feito pelo menu encontra 12 páginas. O site tem cinco tipos de conteúdo, e três deles não aparecem na navegação. É a diferença entre um projeto que cabe no prazo e um que descobre o resto no meio do caminho.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13232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institucional Alupar  ·  </a:t>
            </a:r>
            <a:pPr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ness</a:t>
            </a:r>
            <a:pPr indent="0" marL="0">
              <a:buNone/>
            </a:pPr>
            <a:r>
              <a:rPr lang="en-US" sz="850" dirty="0">
                <a:solidFill>
                  <a:srgbClr val="00ADE8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.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0835640" y="63825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" y="475488"/>
            <a:ext cx="274320" cy="6858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5568" y="402336"/>
            <a:ext cx="10360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· AMBIENTES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713232"/>
            <a:ext cx="10762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ambientes, um único portal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243584"/>
            <a:ext cx="92557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outros três são páginas únicas, hospedadas pela ness.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13232" y="1645920"/>
            <a:ext cx="10762488" cy="10973"/>
          </a:xfrm>
          <a:prstGeom prst="rect">
            <a:avLst/>
          </a:prstGeom>
          <a:solidFill>
            <a:srgbClr val="E2E7E4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901952"/>
          <a:ext cx="10762488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5760720"/>
                <a:gridCol w="1143000"/>
                <a:gridCol w="262432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Ambiente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F9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é de fato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F9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Mídia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F9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Onde está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F9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www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Portal completo: 45 páginas e cinco tipos de conteúdo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fornecedor atual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página, mais uma “em breve…” esquecida de 2025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ness.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página, mais uma “em construção” de 2024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ness.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página única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ness.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13232" y="3950208"/>
            <a:ext cx="10762488" cy="1133856"/>
          </a:xfrm>
          <a:prstGeom prst="rect">
            <a:avLst/>
          </a:prstGeom>
          <a:solidFill>
            <a:srgbClr val="E7F4EC"/>
          </a:solidFill>
          <a:ln/>
        </p:spPr>
      </p:sp>
      <p:sp>
        <p:nvSpPr>
          <p:cNvPr id="9" name="Shape 6"/>
          <p:cNvSpPr/>
          <p:nvPr/>
        </p:nvSpPr>
        <p:spPr>
          <a:xfrm>
            <a:off x="713232" y="3950208"/>
            <a:ext cx="50292" cy="1133856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60704" y="4133088"/>
            <a:ext cx="10067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Nesta proposta, só o institucional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1060704" y="4462272"/>
            <a:ext cx="100675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rs, pdi e ma seguem na ness. Quando a Alupar decidir trazê-los, entram na mesma base do institucional, por acréscimo à mensalidade — sem projeto novo e sem verba à parte. É a saída do WordPress em etapas.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13232" y="5266944"/>
            <a:ext cx="10762488" cy="786384"/>
          </a:xfrm>
          <a:prstGeom prst="rect">
            <a:avLst/>
          </a:prstGeom>
          <a:solidFill>
            <a:srgbClr val="F8F0DE"/>
          </a:solidFill>
          <a:ln/>
        </p:spPr>
      </p:sp>
      <p:sp>
        <p:nvSpPr>
          <p:cNvPr id="13" name="Shape 10"/>
          <p:cNvSpPr/>
          <p:nvPr/>
        </p:nvSpPr>
        <p:spPr>
          <a:xfrm>
            <a:off x="713232" y="5266944"/>
            <a:ext cx="50292" cy="786384"/>
          </a:xfrm>
          <a:prstGeom prst="rect">
            <a:avLst/>
          </a:prstGeom>
          <a:solidFill>
            <a:srgbClr val="8A641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60704" y="5449824"/>
            <a:ext cx="10067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portal de RI está fora do escopo, mas divide a mesma máquina do institucional. A virada do RI mexe na hospedagem daqui — as duas precisam ser coordenadas.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13232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institucional Alupar  ·  </a:t>
            </a:r>
            <a:pPr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ness</a:t>
            </a:r>
            <a:pPr indent="0" marL="0">
              <a:buNone/>
            </a:pPr>
            <a:r>
              <a:rPr lang="en-US" sz="850" dirty="0">
                <a:solidFill>
                  <a:srgbClr val="00ADE8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.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10835640" y="63825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" y="475488"/>
            <a:ext cx="274320" cy="6858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5568" y="402336"/>
            <a:ext cx="10360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· CAUSA RAIZ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713232"/>
            <a:ext cx="10762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causa não é técnica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243584"/>
            <a:ext cx="92557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sites, mesma empresa, mesma infraestrutura, mesmo fornecedor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13232" y="1645920"/>
            <a:ext cx="10762488" cy="10973"/>
          </a:xfrm>
          <a:prstGeom prst="rect">
            <a:avLst/>
          </a:prstGeom>
          <a:solidFill>
            <a:srgbClr val="E2E7E4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901952"/>
            <a:ext cx="5253228" cy="3063240"/>
          </a:xfrm>
          <a:prstGeom prst="rect">
            <a:avLst/>
          </a:prstGeom>
          <a:solidFill>
            <a:srgbClr val="E7F4EC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901952"/>
            <a:ext cx="50292" cy="306324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42416" y="2103120"/>
            <a:ext cx="46131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de RI · em dia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1042416" y="2542032"/>
            <a:ext cx="640080" cy="10973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11" name="Shape 9"/>
          <p:cNvSpPr/>
          <p:nvPr/>
        </p:nvSpPr>
        <p:spPr>
          <a:xfrm>
            <a:off x="1042416" y="2795155"/>
            <a:ext cx="77724" cy="7772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80160" y="2688336"/>
            <a:ext cx="43571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Última publicação de agosto de 2026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42416" y="3307219"/>
            <a:ext cx="77724" cy="7772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80160" y="3200400"/>
            <a:ext cx="43571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responsável nomeado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042416" y="3819283"/>
            <a:ext cx="77724" cy="7772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80160" y="3712464"/>
            <a:ext cx="43571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calendário e obrigação regulatória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042416" y="4331347"/>
            <a:ext cx="77724" cy="7772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280160" y="4224528"/>
            <a:ext cx="43571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Recebeu cabeçalhos de segurança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22492" y="1901952"/>
            <a:ext cx="5253228" cy="3063240"/>
          </a:xfrm>
          <a:prstGeom prst="rect">
            <a:avLst/>
          </a:prstGeom>
          <a:solidFill>
            <a:srgbClr val="FAEA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222492" y="1901952"/>
            <a:ext cx="50292" cy="3063240"/>
          </a:xfrm>
          <a:prstGeom prst="rect">
            <a:avLst/>
          </a:prstGeom>
          <a:solidFill>
            <a:srgbClr val="A82F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51676" y="2103120"/>
            <a:ext cx="46131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82F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Institucional · parado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6551676" y="2542032"/>
            <a:ext cx="640080" cy="10973"/>
          </a:xfrm>
          <a:prstGeom prst="rect">
            <a:avLst/>
          </a:prstGeom>
          <a:solidFill>
            <a:srgbClr val="A82F27"/>
          </a:solidFill>
          <a:ln/>
        </p:spPr>
      </p:sp>
      <p:sp>
        <p:nvSpPr>
          <p:cNvPr id="23" name="Shape 21"/>
          <p:cNvSpPr/>
          <p:nvPr/>
        </p:nvSpPr>
        <p:spPr>
          <a:xfrm>
            <a:off x="6551676" y="2795155"/>
            <a:ext cx="77724" cy="77724"/>
          </a:xfrm>
          <a:prstGeom prst="rect">
            <a:avLst/>
          </a:prstGeom>
          <a:solidFill>
            <a:srgbClr val="A82F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89420" y="2688336"/>
            <a:ext cx="43571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Última publicação de março de 2023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551676" y="3307219"/>
            <a:ext cx="77724" cy="77724"/>
          </a:xfrm>
          <a:prstGeom prst="rect">
            <a:avLst/>
          </a:prstGeom>
          <a:solidFill>
            <a:srgbClr val="A82F2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89420" y="3200400"/>
            <a:ext cx="43571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tem responsável nomeado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51676" y="3819283"/>
            <a:ext cx="77724" cy="77724"/>
          </a:xfrm>
          <a:prstGeom prst="rect">
            <a:avLst/>
          </a:prstGeom>
          <a:solidFill>
            <a:srgbClr val="A82F2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789420" y="3712464"/>
            <a:ext cx="43571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tem calendário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51676" y="4331347"/>
            <a:ext cx="77724" cy="77724"/>
          </a:xfrm>
          <a:prstGeom prst="rect">
            <a:avLst/>
          </a:prstGeom>
          <a:solidFill>
            <a:srgbClr val="A82F2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789420" y="4224528"/>
            <a:ext cx="43571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recebeu as mesmas configurações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13232" y="5212080"/>
            <a:ext cx="10762488" cy="932688"/>
          </a:xfrm>
          <a:prstGeom prst="rect">
            <a:avLst/>
          </a:prstGeom>
          <a:solidFill>
            <a:srgbClr val="EAF1F9"/>
          </a:solidFill>
          <a:ln/>
        </p:spPr>
      </p:sp>
      <p:sp>
        <p:nvSpPr>
          <p:cNvPr id="32" name="Shape 30"/>
          <p:cNvSpPr/>
          <p:nvPr/>
        </p:nvSpPr>
        <p:spPr>
          <a:xfrm>
            <a:off x="713232" y="5212080"/>
            <a:ext cx="50292" cy="932688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060704" y="5394960"/>
            <a:ext cx="10067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tem dono, o outro não. Um site novo sem dono repete esta história em dois ou três anos — por isso “dono do conteúdo, com nome próprio” é condição de entrega, e não recomendação.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13232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institucional Alupar  ·  </a:t>
            </a:r>
            <a:pPr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ness</a:t>
            </a:r>
            <a:pPr indent="0" marL="0">
              <a:buNone/>
            </a:pPr>
            <a:r>
              <a:rPr lang="en-US" sz="850" dirty="0">
                <a:solidFill>
                  <a:srgbClr val="00ADE8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.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10835640" y="63825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2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82712" y="0"/>
            <a:ext cx="4206240" cy="6858000"/>
          </a:xfrm>
          <a:prstGeom prst="rect">
            <a:avLst/>
          </a:prstGeom>
          <a:solidFill>
            <a:srgbClr val="00387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82712" y="96012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0" b="1" dirty="0">
                <a:solidFill>
                  <a:srgbClr val="004F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0" dirty="0"/>
          </a:p>
        </p:txBody>
      </p:sp>
      <p:sp>
        <p:nvSpPr>
          <p:cNvPr id="4" name="Shape 2"/>
          <p:cNvSpPr/>
          <p:nvPr/>
        </p:nvSpPr>
        <p:spPr>
          <a:xfrm>
            <a:off x="713232" y="2788920"/>
            <a:ext cx="1371600" cy="9144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3035808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39319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Restauro fiel da identidade, sete semanas de execução, marcos com porta de saída objetiva e responsabilidades com nome próprio.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institucional Alupar  ·  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ness</a:t>
            </a:r>
            <a:pPr indent="0" marL="0">
              <a:buNone/>
            </a:pPr>
            <a:r>
              <a:rPr lang="en-US" sz="850" dirty="0">
                <a:solidFill>
                  <a:srgbClr val="00ADE8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.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0835640" y="63825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" y="475488"/>
            <a:ext cx="274320" cy="6858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5568" y="402336"/>
            <a:ext cx="10360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· ABORDAGEM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713232"/>
            <a:ext cx="10762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Restauro fiel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243584"/>
            <a:ext cx="92557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identidade visual é preservada. Muda o que resolve um problema medido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13232" y="1645920"/>
            <a:ext cx="10762488" cy="10973"/>
          </a:xfrm>
          <a:prstGeom prst="rect">
            <a:avLst/>
          </a:prstGeom>
          <a:solidFill>
            <a:srgbClr val="E2E7E4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901952"/>
            <a:ext cx="5253228" cy="2788920"/>
          </a:xfrm>
          <a:prstGeom prst="rect">
            <a:avLst/>
          </a:prstGeom>
          <a:solidFill>
            <a:srgbClr val="E7F4EC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901952"/>
            <a:ext cx="50292" cy="278892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42416" y="2084832"/>
            <a:ext cx="4613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muda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042416" y="2612275"/>
            <a:ext cx="77724" cy="7772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80160" y="2505456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Contraste de cor onde reprova a norma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042416" y="2978035"/>
            <a:ext cx="77724" cy="7772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280160" y="2871216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Recorte dos banners no celular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1042416" y="3343795"/>
            <a:ext cx="77724" cy="7772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80160" y="3236976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Rótulos no formulário de contato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42416" y="3709555"/>
            <a:ext cx="77724" cy="7772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80160" y="3602736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Indicação de foco para teclado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042416" y="4075315"/>
            <a:ext cx="77724" cy="7772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280160" y="3968496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Peso, velocidade e imagens modernas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042416" y="4441075"/>
            <a:ext cx="77724" cy="7772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80160" y="4334256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faixa de indicadores na home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22492" y="1901952"/>
            <a:ext cx="5253228" cy="2788920"/>
          </a:xfrm>
          <a:prstGeom prst="rect">
            <a:avLst/>
          </a:prstGeom>
          <a:solidFill>
            <a:srgbClr val="EAF1F9"/>
          </a:solidFill>
          <a:ln/>
        </p:spPr>
      </p:sp>
      <p:sp>
        <p:nvSpPr>
          <p:cNvPr id="23" name="Shape 21"/>
          <p:cNvSpPr/>
          <p:nvPr/>
        </p:nvSpPr>
        <p:spPr>
          <a:xfrm>
            <a:off x="6222492" y="1901952"/>
            <a:ext cx="50292" cy="2788920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51676" y="2084832"/>
            <a:ext cx="4613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F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muda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6551676" y="2612275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89420" y="2505456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paleta da marca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51676" y="2978035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789420" y="2871216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tipografia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51676" y="3343795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789420" y="3236976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Cabeçalho, menu, rodapé e grade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551676" y="3709555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89420" y="3602736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ordem das seções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551676" y="4075315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789420" y="3968496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vocabulário visual do site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713232" y="4956048"/>
            <a:ext cx="10762488" cy="1097280"/>
          </a:xfrm>
          <a:prstGeom prst="rect">
            <a:avLst/>
          </a:prstGeom>
          <a:solidFill>
            <a:srgbClr val="F4F6F5"/>
          </a:solidFill>
          <a:ln/>
        </p:spPr>
      </p:sp>
      <p:sp>
        <p:nvSpPr>
          <p:cNvPr id="36" name="Shape 34"/>
          <p:cNvSpPr/>
          <p:nvPr/>
        </p:nvSpPr>
        <p:spPr>
          <a:xfrm>
            <a:off x="713232" y="4956048"/>
            <a:ext cx="50292" cy="1097280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060704" y="5138928"/>
            <a:ext cx="100675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tela é conferida lado a lado contra a página atual e contra o portal de RI. Se alguém que conhece o site notar a mudança sem ser avisado, passou do ponto.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713232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institucional Alupar  ·  </a:t>
            </a:r>
            <a:pPr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ness</a:t>
            </a:r>
            <a:pPr indent="0" marL="0">
              <a:buNone/>
            </a:pPr>
            <a:r>
              <a:rPr lang="en-US" sz="850" dirty="0">
                <a:solidFill>
                  <a:srgbClr val="00ADE8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.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0835640" y="63825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" y="475488"/>
            <a:ext cx="274320" cy="6858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5568" y="402336"/>
            <a:ext cx="10360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· PLATAFORMA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713232"/>
            <a:ext cx="10762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não seguir no WordPress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243584"/>
            <a:ext cx="92557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pergunta foi levantada, e merece resposta com número — não com preferência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13232" y="1645920"/>
            <a:ext cx="10762488" cy="10973"/>
          </a:xfrm>
          <a:prstGeom prst="rect">
            <a:avLst/>
          </a:prstGeom>
          <a:solidFill>
            <a:srgbClr val="E2E7E4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901952"/>
            <a:ext cx="5253228" cy="1481328"/>
          </a:xfrm>
          <a:prstGeom prst="rect">
            <a:avLst/>
          </a:prstGeom>
          <a:solidFill>
            <a:srgbClr val="F4F6F5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901952"/>
            <a:ext cx="50292" cy="1481328"/>
          </a:xfrm>
          <a:prstGeom prst="rect">
            <a:avLst/>
          </a:prstGeom>
          <a:solidFill>
            <a:srgbClr val="6F727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42416" y="2066544"/>
            <a:ext cx="4613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argumento a favor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042416" y="2414016"/>
            <a:ext cx="45948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site de origem é WordPress. Manter o destino em WordPress tornaria a migração mais barata, porque o conteúdo passaria de um para o outro.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22492" y="1901952"/>
            <a:ext cx="5253228" cy="1481328"/>
          </a:xfrm>
          <a:prstGeom prst="rect">
            <a:avLst/>
          </a:prstGeom>
          <a:solidFill>
            <a:srgbClr val="FAEAE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22492" y="1901952"/>
            <a:ext cx="50292" cy="1481328"/>
          </a:xfrm>
          <a:prstGeom prst="rect">
            <a:avLst/>
          </a:prstGeom>
          <a:solidFill>
            <a:srgbClr val="A82F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51676" y="2066544"/>
            <a:ext cx="4613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82F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medição mostrou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551676" y="2414016"/>
            <a:ext cx="45948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acesso programático ao conteúdo do site atual está bloqueado. Não existe exportação. A recuperação é página por página — para qualquer destino.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3566160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seja: a migração custa o mesmo nos dois caminhos. O que muda é o depois.</a:t>
            </a:r>
            <a:endParaRPr lang="en-US" sz="14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3986784"/>
          <a:ext cx="10762488" cy="914400"/>
        </p:xfrm>
        <a:graphic>
          <a:graphicData uri="http://schemas.openxmlformats.org/drawingml/2006/table">
            <a:tbl>
              <a:tblPr/>
              <a:tblGrid>
                <a:gridCol w="3886200"/>
                <a:gridCol w="3712464"/>
                <a:gridCol w="3163824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F9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WordPress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F9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Site estático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F9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 mensal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hospedagem, licenças e plugins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795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R$ 0 a 150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Manutenção obrigatória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núcleo, tema, plugins e versão do PHP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795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nenhuma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Superfície de invasão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permanente, e cresce com cada plugin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795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há o que invadir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ficar sem dono de novo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é exatamente o que aconteceu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795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site continua no ar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713232" y="5504688"/>
            <a:ext cx="10762488" cy="731520"/>
          </a:xfrm>
          <a:prstGeom prst="rect">
            <a:avLst/>
          </a:prstGeom>
          <a:solidFill>
            <a:srgbClr val="EAF1F9"/>
          </a:solidFill>
          <a:ln/>
        </p:spPr>
      </p:sp>
      <p:sp>
        <p:nvSpPr>
          <p:cNvPr id="18" name="Shape 15"/>
          <p:cNvSpPr/>
          <p:nvPr/>
        </p:nvSpPr>
        <p:spPr>
          <a:xfrm>
            <a:off x="713232" y="5504688"/>
            <a:ext cx="50292" cy="731520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060704" y="5687568"/>
            <a:ext cx="100675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causa do estado atual não é o WordPress — é a ausência de dono. Mas o WordPress pune essa ausência todo mês, e o site estático não.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713232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institucional Alupar  ·  </a:t>
            </a:r>
            <a:pPr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ness</a:t>
            </a:r>
            <a:pPr indent="0" marL="0">
              <a:buNone/>
            </a:pPr>
            <a:r>
              <a:rPr lang="en-US" sz="850" dirty="0">
                <a:solidFill>
                  <a:srgbClr val="00ADE8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.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10835640" y="63825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" y="475488"/>
            <a:ext cx="274320" cy="6858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5568" y="402336"/>
            <a:ext cx="10360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· ARQUITETURA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713232"/>
            <a:ext cx="10762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site novo funciona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243584"/>
            <a:ext cx="92557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peças, cada uma resolvendo um problema do arranjo atual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13232" y="1645920"/>
            <a:ext cx="10762488" cy="10973"/>
          </a:xfrm>
          <a:prstGeom prst="rect">
            <a:avLst/>
          </a:prstGeom>
          <a:solidFill>
            <a:srgbClr val="E2E7E4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901952"/>
            <a:ext cx="3416808" cy="2697480"/>
          </a:xfrm>
          <a:prstGeom prst="rect">
            <a:avLst/>
          </a:prstGeom>
          <a:solidFill>
            <a:srgbClr val="F4F6F5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901952"/>
            <a:ext cx="50292" cy="269748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24128" y="2103120"/>
            <a:ext cx="2813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ASTRO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432304"/>
            <a:ext cx="2813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F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estático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2962656"/>
            <a:ext cx="28133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página vira arquivo pronto, servido por rede de distribuição global. Sem servidor para cair, sem banco para consultar.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86072" y="1901952"/>
            <a:ext cx="3416808" cy="2697480"/>
          </a:xfrm>
          <a:prstGeom prst="rect">
            <a:avLst/>
          </a:prstGeom>
          <a:solidFill>
            <a:srgbClr val="F4F6F5"/>
          </a:solidFill>
          <a:ln/>
        </p:spPr>
      </p:sp>
      <p:sp>
        <p:nvSpPr>
          <p:cNvPr id="13" name="Shape 11"/>
          <p:cNvSpPr/>
          <p:nvPr/>
        </p:nvSpPr>
        <p:spPr>
          <a:xfrm>
            <a:off x="4386072" y="1901952"/>
            <a:ext cx="50292" cy="269748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96968" y="2103120"/>
            <a:ext cx="2813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CLOUDFLARE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696968" y="2432304"/>
            <a:ext cx="2813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F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Publicação e domínio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696968" y="2962656"/>
            <a:ext cx="28133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 renovado automaticamente — o incidente atual deixa de ser possível. A zona já é administrada pela ness.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58912" y="1901952"/>
            <a:ext cx="3416808" cy="2697480"/>
          </a:xfrm>
          <a:prstGeom prst="rect">
            <a:avLst/>
          </a:prstGeom>
          <a:solidFill>
            <a:srgbClr val="F4F6F5"/>
          </a:solidFill>
          <a:ln/>
        </p:spPr>
      </p:sp>
      <p:sp>
        <p:nvSpPr>
          <p:cNvPr id="18" name="Shape 16"/>
          <p:cNvSpPr/>
          <p:nvPr/>
        </p:nvSpPr>
        <p:spPr>
          <a:xfrm>
            <a:off x="8058912" y="1901952"/>
            <a:ext cx="50292" cy="269748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69808" y="2103120"/>
            <a:ext cx="2813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SANITY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369808" y="2432304"/>
            <a:ext cx="2813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F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Gerenciador de conteúdo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69808" y="2962656"/>
            <a:ext cx="28133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Comunicação publica notícia e troca banner sozinha, em três idiomas. Conta em nome da Alupar.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4773168"/>
            <a:ext cx="10762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sai:  </a:t>
            </a:r>
            <a:pPr indent="0" marL="0">
              <a:buNone/>
            </a:pPr>
            <a:r>
              <a:rPr lang="en-US" sz="13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WordPress, o tema de 2017, 21 arquivos de JavaScript, três bibliotecas de carrossel simultâneas e o suporte a Internet Explorer 8.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13232" y="5266944"/>
            <a:ext cx="10762488" cy="786384"/>
          </a:xfrm>
          <a:prstGeom prst="rect">
            <a:avLst/>
          </a:prstGeom>
          <a:solidFill>
            <a:srgbClr val="E7F4EC"/>
          </a:solidFill>
          <a:ln/>
        </p:spPr>
      </p:sp>
      <p:sp>
        <p:nvSpPr>
          <p:cNvPr id="24" name="Shape 22"/>
          <p:cNvSpPr/>
          <p:nvPr/>
        </p:nvSpPr>
        <p:spPr>
          <a:xfrm>
            <a:off x="713232" y="5266944"/>
            <a:ext cx="50292" cy="78638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60704" y="5449824"/>
            <a:ext cx="10067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licença e sem servidor para manter. É o que permite que hospedagem, certificados, monitoramento e evolução caibam numa única mensalidade.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institucional Alupar  ·  </a:t>
            </a:r>
            <a:pPr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ness</a:t>
            </a:r>
            <a:pPr indent="0" marL="0">
              <a:buNone/>
            </a:pPr>
            <a:r>
              <a:rPr lang="en-US" sz="850" dirty="0">
                <a:solidFill>
                  <a:srgbClr val="00ADE8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.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0835640" y="63825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" y="475488"/>
            <a:ext cx="274320" cy="6858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5568" y="402336"/>
            <a:ext cx="10360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· CRONOGRAMA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713232"/>
            <a:ext cx="10762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semanas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243584"/>
            <a:ext cx="92557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partir do início — mais as correções emergenciais, que já podem começar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13232" y="1645920"/>
            <a:ext cx="10762488" cy="10973"/>
          </a:xfrm>
          <a:prstGeom prst="rect">
            <a:avLst/>
          </a:prstGeom>
          <a:solidFill>
            <a:srgbClr val="E2E7E4"/>
          </a:solidFill>
          <a:ln/>
        </p:spPr>
      </p:sp>
      <p:sp>
        <p:nvSpPr>
          <p:cNvPr id="7" name="Shape 5"/>
          <p:cNvSpPr/>
          <p:nvPr/>
        </p:nvSpPr>
        <p:spPr>
          <a:xfrm>
            <a:off x="3502152" y="1847088"/>
            <a:ext cx="1139081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02152" y="1901952"/>
            <a:ext cx="113908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41233" y="1847088"/>
            <a:ext cx="1139081" cy="310896"/>
          </a:xfrm>
          <a:prstGeom prst="rect">
            <a:avLst/>
          </a:prstGeom>
          <a:solidFill>
            <a:srgbClr val="F4F6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41233" y="1901952"/>
            <a:ext cx="113908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780314" y="1847088"/>
            <a:ext cx="1139081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780314" y="1901952"/>
            <a:ext cx="113908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919395" y="1847088"/>
            <a:ext cx="1139081" cy="310896"/>
          </a:xfrm>
          <a:prstGeom prst="rect">
            <a:avLst/>
          </a:prstGeom>
          <a:solidFill>
            <a:srgbClr val="F4F6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919395" y="1901952"/>
            <a:ext cx="113908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58477" y="1847088"/>
            <a:ext cx="1139081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58477" y="1901952"/>
            <a:ext cx="113908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97558" y="1847088"/>
            <a:ext cx="1139081" cy="310896"/>
          </a:xfrm>
          <a:prstGeom prst="rect">
            <a:avLst/>
          </a:prstGeom>
          <a:solidFill>
            <a:srgbClr val="F4F6F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97558" y="1901952"/>
            <a:ext cx="113908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S6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336639" y="1847088"/>
            <a:ext cx="1139081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336639" y="1901952"/>
            <a:ext cx="113908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S7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2194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Descoberta e inventário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547872" y="2231136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079541"/>
          </a:solidFill>
          <a:ln/>
        </p:spPr>
      </p:sp>
      <p:sp>
        <p:nvSpPr>
          <p:cNvPr id="23" name="Shape 21"/>
          <p:cNvSpPr/>
          <p:nvPr/>
        </p:nvSpPr>
        <p:spPr>
          <a:xfrm>
            <a:off x="4686953" y="2231136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24" name="Shape 22"/>
          <p:cNvSpPr/>
          <p:nvPr/>
        </p:nvSpPr>
        <p:spPr>
          <a:xfrm>
            <a:off x="5826034" y="2231136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25" name="Shape 23"/>
          <p:cNvSpPr/>
          <p:nvPr/>
        </p:nvSpPr>
        <p:spPr>
          <a:xfrm>
            <a:off x="6965115" y="2231136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26" name="Shape 24"/>
          <p:cNvSpPr/>
          <p:nvPr/>
        </p:nvSpPr>
        <p:spPr>
          <a:xfrm>
            <a:off x="8104197" y="2231136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27" name="Shape 25"/>
          <p:cNvSpPr/>
          <p:nvPr/>
        </p:nvSpPr>
        <p:spPr>
          <a:xfrm>
            <a:off x="9243278" y="2231136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28" name="Shape 26"/>
          <p:cNvSpPr/>
          <p:nvPr/>
        </p:nvSpPr>
        <p:spPr>
          <a:xfrm>
            <a:off x="10382359" y="2231136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13232" y="257860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 de identidade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547872" y="2615184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004F9D"/>
          </a:solidFill>
          <a:ln/>
        </p:spPr>
      </p:sp>
      <p:sp>
        <p:nvSpPr>
          <p:cNvPr id="31" name="Shape 29"/>
          <p:cNvSpPr/>
          <p:nvPr/>
        </p:nvSpPr>
        <p:spPr>
          <a:xfrm>
            <a:off x="4686953" y="2615184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004F9D"/>
          </a:solidFill>
          <a:ln/>
        </p:spPr>
      </p:sp>
      <p:sp>
        <p:nvSpPr>
          <p:cNvPr id="32" name="Shape 30"/>
          <p:cNvSpPr/>
          <p:nvPr/>
        </p:nvSpPr>
        <p:spPr>
          <a:xfrm>
            <a:off x="5826034" y="2615184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33" name="Shape 31"/>
          <p:cNvSpPr/>
          <p:nvPr/>
        </p:nvSpPr>
        <p:spPr>
          <a:xfrm>
            <a:off x="6965115" y="2615184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34" name="Shape 32"/>
          <p:cNvSpPr/>
          <p:nvPr/>
        </p:nvSpPr>
        <p:spPr>
          <a:xfrm>
            <a:off x="8104197" y="2615184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35" name="Shape 33"/>
          <p:cNvSpPr/>
          <p:nvPr/>
        </p:nvSpPr>
        <p:spPr>
          <a:xfrm>
            <a:off x="9243278" y="2615184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36" name="Shape 34"/>
          <p:cNvSpPr/>
          <p:nvPr/>
        </p:nvSpPr>
        <p:spPr>
          <a:xfrm>
            <a:off x="10382359" y="2615184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13232" y="29626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dos templates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3547872" y="2999232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004F9D"/>
          </a:solidFill>
          <a:ln/>
        </p:spPr>
      </p:sp>
      <p:sp>
        <p:nvSpPr>
          <p:cNvPr id="39" name="Shape 37"/>
          <p:cNvSpPr/>
          <p:nvPr/>
        </p:nvSpPr>
        <p:spPr>
          <a:xfrm>
            <a:off x="4686953" y="2999232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004F9D"/>
          </a:solidFill>
          <a:ln/>
        </p:spPr>
      </p:sp>
      <p:sp>
        <p:nvSpPr>
          <p:cNvPr id="40" name="Shape 38"/>
          <p:cNvSpPr/>
          <p:nvPr/>
        </p:nvSpPr>
        <p:spPr>
          <a:xfrm>
            <a:off x="5826034" y="2999232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41" name="Shape 39"/>
          <p:cNvSpPr/>
          <p:nvPr/>
        </p:nvSpPr>
        <p:spPr>
          <a:xfrm>
            <a:off x="6965115" y="2999232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42" name="Shape 40"/>
          <p:cNvSpPr/>
          <p:nvPr/>
        </p:nvSpPr>
        <p:spPr>
          <a:xfrm>
            <a:off x="8104197" y="2999232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43" name="Shape 41"/>
          <p:cNvSpPr/>
          <p:nvPr/>
        </p:nvSpPr>
        <p:spPr>
          <a:xfrm>
            <a:off x="9243278" y="2999232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44" name="Shape 42"/>
          <p:cNvSpPr/>
          <p:nvPr/>
        </p:nvSpPr>
        <p:spPr>
          <a:xfrm>
            <a:off x="10382359" y="2999232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13232" y="33467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Desenvolvimento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3547872" y="3383280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47" name="Shape 45"/>
          <p:cNvSpPr/>
          <p:nvPr/>
        </p:nvSpPr>
        <p:spPr>
          <a:xfrm>
            <a:off x="4686953" y="3383280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079541"/>
          </a:solidFill>
          <a:ln/>
        </p:spPr>
      </p:sp>
      <p:sp>
        <p:nvSpPr>
          <p:cNvPr id="48" name="Shape 46"/>
          <p:cNvSpPr/>
          <p:nvPr/>
        </p:nvSpPr>
        <p:spPr>
          <a:xfrm>
            <a:off x="5826034" y="3383280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079541"/>
          </a:solidFill>
          <a:ln/>
        </p:spPr>
      </p:sp>
      <p:sp>
        <p:nvSpPr>
          <p:cNvPr id="49" name="Shape 47"/>
          <p:cNvSpPr/>
          <p:nvPr/>
        </p:nvSpPr>
        <p:spPr>
          <a:xfrm>
            <a:off x="6965115" y="3383280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079541"/>
          </a:solidFill>
          <a:ln/>
        </p:spPr>
      </p:sp>
      <p:sp>
        <p:nvSpPr>
          <p:cNvPr id="50" name="Shape 48"/>
          <p:cNvSpPr/>
          <p:nvPr/>
        </p:nvSpPr>
        <p:spPr>
          <a:xfrm>
            <a:off x="8104197" y="3383280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079541"/>
          </a:solidFill>
          <a:ln/>
        </p:spPr>
      </p:sp>
      <p:sp>
        <p:nvSpPr>
          <p:cNvPr id="51" name="Shape 49"/>
          <p:cNvSpPr/>
          <p:nvPr/>
        </p:nvSpPr>
        <p:spPr>
          <a:xfrm>
            <a:off x="9243278" y="3383280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52" name="Shape 50"/>
          <p:cNvSpPr/>
          <p:nvPr/>
        </p:nvSpPr>
        <p:spPr>
          <a:xfrm>
            <a:off x="10382359" y="3383280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13232" y="37307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Conteúdo e migração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3547872" y="3767328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55" name="Shape 53"/>
          <p:cNvSpPr/>
          <p:nvPr/>
        </p:nvSpPr>
        <p:spPr>
          <a:xfrm>
            <a:off x="4686953" y="3767328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56" name="Shape 54"/>
          <p:cNvSpPr/>
          <p:nvPr/>
        </p:nvSpPr>
        <p:spPr>
          <a:xfrm>
            <a:off x="5826034" y="3767328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004F9D"/>
          </a:solidFill>
          <a:ln/>
        </p:spPr>
      </p:sp>
      <p:sp>
        <p:nvSpPr>
          <p:cNvPr id="57" name="Shape 55"/>
          <p:cNvSpPr/>
          <p:nvPr/>
        </p:nvSpPr>
        <p:spPr>
          <a:xfrm>
            <a:off x="6965115" y="3767328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004F9D"/>
          </a:solidFill>
          <a:ln/>
        </p:spPr>
      </p:sp>
      <p:sp>
        <p:nvSpPr>
          <p:cNvPr id="58" name="Shape 56"/>
          <p:cNvSpPr/>
          <p:nvPr/>
        </p:nvSpPr>
        <p:spPr>
          <a:xfrm>
            <a:off x="8104197" y="3767328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004F9D"/>
          </a:solidFill>
          <a:ln/>
        </p:spPr>
      </p:sp>
      <p:sp>
        <p:nvSpPr>
          <p:cNvPr id="59" name="Shape 57"/>
          <p:cNvSpPr/>
          <p:nvPr/>
        </p:nvSpPr>
        <p:spPr>
          <a:xfrm>
            <a:off x="9243278" y="3767328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60" name="Shape 58"/>
          <p:cNvSpPr/>
          <p:nvPr/>
        </p:nvSpPr>
        <p:spPr>
          <a:xfrm>
            <a:off x="10382359" y="3767328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13232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Traduções PT / EN / ES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3547872" y="4151376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63" name="Shape 61"/>
          <p:cNvSpPr/>
          <p:nvPr/>
        </p:nvSpPr>
        <p:spPr>
          <a:xfrm>
            <a:off x="4686953" y="4151376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64" name="Shape 62"/>
          <p:cNvSpPr/>
          <p:nvPr/>
        </p:nvSpPr>
        <p:spPr>
          <a:xfrm>
            <a:off x="5826034" y="4151376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004F9D"/>
          </a:solidFill>
          <a:ln/>
        </p:spPr>
      </p:sp>
      <p:sp>
        <p:nvSpPr>
          <p:cNvPr id="65" name="Shape 63"/>
          <p:cNvSpPr/>
          <p:nvPr/>
        </p:nvSpPr>
        <p:spPr>
          <a:xfrm>
            <a:off x="6965115" y="4151376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004F9D"/>
          </a:solidFill>
          <a:ln/>
        </p:spPr>
      </p:sp>
      <p:sp>
        <p:nvSpPr>
          <p:cNvPr id="66" name="Shape 64"/>
          <p:cNvSpPr/>
          <p:nvPr/>
        </p:nvSpPr>
        <p:spPr>
          <a:xfrm>
            <a:off x="8104197" y="4151376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004F9D"/>
          </a:solidFill>
          <a:ln/>
        </p:spPr>
      </p:sp>
      <p:sp>
        <p:nvSpPr>
          <p:cNvPr id="67" name="Shape 65"/>
          <p:cNvSpPr/>
          <p:nvPr/>
        </p:nvSpPr>
        <p:spPr>
          <a:xfrm>
            <a:off x="9243278" y="4151376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68" name="Shape 66"/>
          <p:cNvSpPr/>
          <p:nvPr/>
        </p:nvSpPr>
        <p:spPr>
          <a:xfrm>
            <a:off x="10382359" y="4151376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13232" y="44988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Acessibilidade, SEO e GEO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3547872" y="4535424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71" name="Shape 69"/>
          <p:cNvSpPr/>
          <p:nvPr/>
        </p:nvSpPr>
        <p:spPr>
          <a:xfrm>
            <a:off x="4686953" y="4535424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72" name="Shape 70"/>
          <p:cNvSpPr/>
          <p:nvPr/>
        </p:nvSpPr>
        <p:spPr>
          <a:xfrm>
            <a:off x="5826034" y="4535424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73" name="Shape 71"/>
          <p:cNvSpPr/>
          <p:nvPr/>
        </p:nvSpPr>
        <p:spPr>
          <a:xfrm>
            <a:off x="6965115" y="4535424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74" name="Shape 72"/>
          <p:cNvSpPr/>
          <p:nvPr/>
        </p:nvSpPr>
        <p:spPr>
          <a:xfrm>
            <a:off x="8104197" y="4535424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079541"/>
          </a:solidFill>
          <a:ln/>
        </p:spPr>
      </p:sp>
      <p:sp>
        <p:nvSpPr>
          <p:cNvPr id="75" name="Shape 73"/>
          <p:cNvSpPr/>
          <p:nvPr/>
        </p:nvSpPr>
        <p:spPr>
          <a:xfrm>
            <a:off x="9243278" y="4535424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079541"/>
          </a:solidFill>
          <a:ln/>
        </p:spPr>
      </p:sp>
      <p:sp>
        <p:nvSpPr>
          <p:cNvPr id="76" name="Shape 74"/>
          <p:cNvSpPr/>
          <p:nvPr/>
        </p:nvSpPr>
        <p:spPr>
          <a:xfrm>
            <a:off x="10382359" y="4535424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13232" y="4882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Publicação e infraestrutura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3547872" y="4919472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79" name="Shape 77"/>
          <p:cNvSpPr/>
          <p:nvPr/>
        </p:nvSpPr>
        <p:spPr>
          <a:xfrm>
            <a:off x="4686953" y="4919472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004F9D"/>
          </a:solidFill>
          <a:ln/>
        </p:spPr>
      </p:sp>
      <p:sp>
        <p:nvSpPr>
          <p:cNvPr id="80" name="Shape 78"/>
          <p:cNvSpPr/>
          <p:nvPr/>
        </p:nvSpPr>
        <p:spPr>
          <a:xfrm>
            <a:off x="5826034" y="4919472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81" name="Shape 79"/>
          <p:cNvSpPr/>
          <p:nvPr/>
        </p:nvSpPr>
        <p:spPr>
          <a:xfrm>
            <a:off x="6965115" y="4919472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82" name="Shape 80"/>
          <p:cNvSpPr/>
          <p:nvPr/>
        </p:nvSpPr>
        <p:spPr>
          <a:xfrm>
            <a:off x="8104197" y="4919472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004F9D"/>
          </a:solidFill>
          <a:ln/>
        </p:spPr>
      </p:sp>
      <p:sp>
        <p:nvSpPr>
          <p:cNvPr id="83" name="Shape 81"/>
          <p:cNvSpPr/>
          <p:nvPr/>
        </p:nvSpPr>
        <p:spPr>
          <a:xfrm>
            <a:off x="9243278" y="4919472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004F9D"/>
          </a:solidFill>
          <a:ln/>
        </p:spPr>
      </p:sp>
      <p:sp>
        <p:nvSpPr>
          <p:cNvPr id="84" name="Shape 82"/>
          <p:cNvSpPr/>
          <p:nvPr/>
        </p:nvSpPr>
        <p:spPr>
          <a:xfrm>
            <a:off x="10382359" y="4919472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713232" y="526694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Homologação e virada</a:t>
            </a:r>
            <a:endParaRPr lang="en-US" sz="1150" dirty="0"/>
          </a:p>
        </p:txBody>
      </p:sp>
      <p:sp>
        <p:nvSpPr>
          <p:cNvPr id="86" name="Shape 84"/>
          <p:cNvSpPr/>
          <p:nvPr/>
        </p:nvSpPr>
        <p:spPr>
          <a:xfrm>
            <a:off x="3547872" y="5303520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87" name="Shape 85"/>
          <p:cNvSpPr/>
          <p:nvPr/>
        </p:nvSpPr>
        <p:spPr>
          <a:xfrm>
            <a:off x="4686953" y="5303520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88" name="Shape 86"/>
          <p:cNvSpPr/>
          <p:nvPr/>
        </p:nvSpPr>
        <p:spPr>
          <a:xfrm>
            <a:off x="5826034" y="5303520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89" name="Shape 87"/>
          <p:cNvSpPr/>
          <p:nvPr/>
        </p:nvSpPr>
        <p:spPr>
          <a:xfrm>
            <a:off x="6965115" y="5303520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90" name="Shape 88"/>
          <p:cNvSpPr/>
          <p:nvPr/>
        </p:nvSpPr>
        <p:spPr>
          <a:xfrm>
            <a:off x="8104197" y="5303520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F0F2F1"/>
          </a:solidFill>
          <a:ln/>
        </p:spPr>
      </p:sp>
      <p:sp>
        <p:nvSpPr>
          <p:cNvPr id="91" name="Shape 89"/>
          <p:cNvSpPr/>
          <p:nvPr/>
        </p:nvSpPr>
        <p:spPr>
          <a:xfrm>
            <a:off x="9243278" y="5303520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079541"/>
          </a:solidFill>
          <a:ln/>
        </p:spPr>
      </p:sp>
      <p:sp>
        <p:nvSpPr>
          <p:cNvPr id="92" name="Shape 90"/>
          <p:cNvSpPr/>
          <p:nvPr/>
        </p:nvSpPr>
        <p:spPr>
          <a:xfrm>
            <a:off x="10382359" y="5303520"/>
            <a:ext cx="1047641" cy="265176"/>
          </a:xfrm>
          <a:prstGeom prst="roundRect">
            <a:avLst>
              <a:gd name="adj" fmla="val 13793"/>
            </a:avLst>
          </a:prstGeom>
          <a:solidFill>
            <a:srgbClr val="079541"/>
          </a:solidFill>
          <a:ln/>
        </p:spPr>
      </p:sp>
      <p:sp>
        <p:nvSpPr>
          <p:cNvPr id="93" name="Shape 91"/>
          <p:cNvSpPr/>
          <p:nvPr/>
        </p:nvSpPr>
        <p:spPr>
          <a:xfrm>
            <a:off x="713232" y="5724144"/>
            <a:ext cx="10762488" cy="10973"/>
          </a:xfrm>
          <a:prstGeom prst="rect">
            <a:avLst/>
          </a:prstGeom>
          <a:solidFill>
            <a:srgbClr val="E2E7E4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713232" y="5815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Marcos</a:t>
            </a:r>
            <a:endParaRPr lang="en-US" sz="1100" dirty="0"/>
          </a:p>
        </p:txBody>
      </p:sp>
      <p:sp>
        <p:nvSpPr>
          <p:cNvPr id="95" name="Text 93"/>
          <p:cNvSpPr txBox="1"/>
          <p:nvPr/>
        </p:nvSpPr>
        <p:spPr>
          <a:xfrm>
            <a:off x="3502152" y="5815584"/>
            <a:ext cx="1139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150" dirty="0"/>
          </a:p>
        </p:txBody>
      </p:sp>
      <p:sp>
        <p:nvSpPr>
          <p:cNvPr id="96" name="Text 94"/>
          <p:cNvSpPr txBox="1"/>
          <p:nvPr/>
        </p:nvSpPr>
        <p:spPr>
          <a:xfrm>
            <a:off x="4641233" y="5815584"/>
            <a:ext cx="1139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1150" dirty="0"/>
          </a:p>
        </p:txBody>
      </p:sp>
      <p:sp>
        <p:nvSpPr>
          <p:cNvPr id="97" name="Text 95"/>
          <p:cNvSpPr txBox="1"/>
          <p:nvPr/>
        </p:nvSpPr>
        <p:spPr>
          <a:xfrm>
            <a:off x="8058477" y="5815584"/>
            <a:ext cx="1139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150" dirty="0"/>
          </a:p>
        </p:txBody>
      </p:sp>
      <p:sp>
        <p:nvSpPr>
          <p:cNvPr id="98" name="Text 96"/>
          <p:cNvSpPr txBox="1"/>
          <p:nvPr/>
        </p:nvSpPr>
        <p:spPr>
          <a:xfrm>
            <a:off x="9197558" y="5815584"/>
            <a:ext cx="1139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1150" dirty="0"/>
          </a:p>
        </p:txBody>
      </p:sp>
      <p:sp>
        <p:nvSpPr>
          <p:cNvPr id="99" name="Text 97"/>
          <p:cNvSpPr txBox="1"/>
          <p:nvPr/>
        </p:nvSpPr>
        <p:spPr>
          <a:xfrm>
            <a:off x="10336639" y="5815584"/>
            <a:ext cx="1139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1150" dirty="0"/>
          </a:p>
        </p:txBody>
      </p:sp>
      <p:sp>
        <p:nvSpPr>
          <p:cNvPr id="100" name="Text 98"/>
          <p:cNvSpPr txBox="1"/>
          <p:nvPr/>
        </p:nvSpPr>
        <p:spPr>
          <a:xfrm>
            <a:off x="713232" y="6144768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datas de calendário dependem da data de início — por isso o cronograma é apresentado em semanas.</a:t>
            </a:r>
            <a:endParaRPr lang="en-US" sz="1100" dirty="0"/>
          </a:p>
        </p:txBody>
      </p:sp>
      <p:sp>
        <p:nvSpPr>
          <p:cNvPr id="101" name="Text 99"/>
          <p:cNvSpPr txBox="1"/>
          <p:nvPr/>
        </p:nvSpPr>
        <p:spPr>
          <a:xfrm>
            <a:off x="713232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institucional Alupar  ·  </a:t>
            </a:r>
            <a:pPr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ness</a:t>
            </a:r>
            <a:pPr indent="0" marL="0">
              <a:buNone/>
            </a:pPr>
            <a:r>
              <a:rPr lang="en-US" sz="850" dirty="0">
                <a:solidFill>
                  <a:srgbClr val="00ADE8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.</a:t>
            </a:r>
            <a:endParaRPr lang="en-US" sz="850" dirty="0"/>
          </a:p>
        </p:txBody>
      </p:sp>
      <p:sp>
        <p:nvSpPr>
          <p:cNvPr id="102" name="Text 100"/>
          <p:cNvSpPr txBox="1"/>
          <p:nvPr/>
        </p:nvSpPr>
        <p:spPr>
          <a:xfrm>
            <a:off x="10835640" y="63825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" y="475488"/>
            <a:ext cx="274320" cy="6858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5568" y="402336"/>
            <a:ext cx="10360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· MARCOS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713232"/>
            <a:ext cx="10762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Marcos e portas de saída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243584"/>
            <a:ext cx="92557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marco tem um critério objetivo — passa ou não passa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13232" y="1645920"/>
            <a:ext cx="10762488" cy="10973"/>
          </a:xfrm>
          <a:prstGeom prst="rect">
            <a:avLst/>
          </a:prstGeom>
          <a:solidFill>
            <a:srgbClr val="E2E7E4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901952"/>
          <a:ext cx="1076248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143000"/>
                <a:gridCol w="4617720"/>
                <a:gridCol w="3950208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F9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Quando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F9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Entrega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F9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 de saída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F9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Marco 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48–72 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Domínio corrigido, cabeçalhos aplicados, monitoramento ligado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endereço sem “www” responde normalmente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Semana 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Inventário fechado, arquitetura e identidade extraída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Destino definido para as 20 páginas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Semana 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Design aprovado, primeiras telas navegáveis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Aprovação formal do Marketing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Semana 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Conteúdo migrado e equipe publicando sozinha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Comunicação publica sem apoio técnico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Semana 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Site completo em homologação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Todos os critérios de aceite medidos e verdes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Semana 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Virada, redirecionamentos ativos, monitoramento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Nenhum endereço antigo quebrado por 7 dias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13232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institucional Alupar  ·  </a:t>
            </a:r>
            <a:pPr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ness</a:t>
            </a:r>
            <a:pPr indent="0" marL="0">
              <a:buNone/>
            </a:pPr>
            <a:r>
              <a:rPr lang="en-US" sz="850" dirty="0">
                <a:solidFill>
                  <a:srgbClr val="00ADE8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10835640" y="63825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" y="475488"/>
            <a:ext cx="274320" cy="6858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5568" y="402336"/>
            <a:ext cx="10360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· RESPONSABILIDADES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713232"/>
            <a:ext cx="10762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aprova o quê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243584"/>
            <a:ext cx="92557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execução é da contratada. A coluna de aprovação precisa de pessoa, não de área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13232" y="1645920"/>
            <a:ext cx="10762488" cy="10973"/>
          </a:xfrm>
          <a:prstGeom prst="rect">
            <a:avLst/>
          </a:prstGeom>
          <a:solidFill>
            <a:srgbClr val="E2E7E4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901952"/>
          <a:ext cx="10762488" cy="914400"/>
        </p:xfrm>
        <a:graphic>
          <a:graphicData uri="http://schemas.openxmlformats.org/drawingml/2006/table">
            <a:tbl>
              <a:tblPr/>
              <a:tblGrid>
                <a:gridCol w="3703320"/>
                <a:gridCol w="2697480"/>
                <a:gridCol w="2377440"/>
                <a:gridCol w="1984248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Frente de trabalho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F9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 (A)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F9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Consultado (C)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F9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Informado (I)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F9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Correção do domínio em https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ness.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 Alupar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Comunicação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Descoberta e inventário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Contratada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Comunicação, TI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Identidade e design dos templates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Marketing Alupar · marca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Comunicação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Conteúdo e revisão em português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Comunicação Alupar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Traduções inglês e espanhol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Comunicação Alupar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do feed de notícias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Contratada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Equipe de 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Comunicação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Políticas de privacidade e LGPD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Jurídico Alupar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Comunicação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Infraestrutura e publicação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ness.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 Alupar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Homologação e virada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Comunicação Alupar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Todos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Diretoria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Operação depois da entrega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Comunicação Alupar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Contratada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13232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institucional Alupar  ·  </a:t>
            </a:r>
            <a:pPr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ness</a:t>
            </a:r>
            <a:pPr indent="0" marL="0">
              <a:buNone/>
            </a:pPr>
            <a:r>
              <a:rPr lang="en-US" sz="850" dirty="0">
                <a:solidFill>
                  <a:srgbClr val="00ADE8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10835640" y="63825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" y="475488"/>
            <a:ext cx="274320" cy="6858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5568" y="402336"/>
            <a:ext cx="10360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· DEPENDÊNCIAS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713232"/>
            <a:ext cx="10762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precisamos da Alupar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243584"/>
            <a:ext cx="92557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destes tem custo. Todos travam algum início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13232" y="1645920"/>
            <a:ext cx="10762488" cy="10973"/>
          </a:xfrm>
          <a:prstGeom prst="rect">
            <a:avLst/>
          </a:prstGeom>
          <a:solidFill>
            <a:srgbClr val="E2E7E4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901952"/>
            <a:ext cx="5253228" cy="2651760"/>
          </a:xfrm>
          <a:prstGeom prst="rect">
            <a:avLst/>
          </a:prstGeom>
          <a:solidFill>
            <a:srgbClr val="F4F6F5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901952"/>
            <a:ext cx="50292" cy="2651760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42416" y="2066544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FE0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1627632" y="2157984"/>
            <a:ext cx="40187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F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42416" y="2795155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80160" y="2688336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Interlocutor da equipe do portal de RI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42416" y="3160915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80160" y="3054096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Interlocutor do fornecedor atual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042416" y="3526675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80160" y="3419856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aprova uso da marca no Marketing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042416" y="3892435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280160" y="3785616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Dono do conteúdo institucional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042416" y="4258195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80160" y="4151376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padrinho executivo para impasses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22492" y="1901952"/>
            <a:ext cx="5253228" cy="2651760"/>
          </a:xfrm>
          <a:prstGeom prst="rect">
            <a:avLst/>
          </a:prstGeom>
          <a:solidFill>
            <a:srgbClr val="F4F6F5"/>
          </a:solidFill>
          <a:ln/>
        </p:spPr>
      </p:sp>
      <p:sp>
        <p:nvSpPr>
          <p:cNvPr id="22" name="Shape 20"/>
          <p:cNvSpPr/>
          <p:nvPr/>
        </p:nvSpPr>
        <p:spPr>
          <a:xfrm>
            <a:off x="6222492" y="1901952"/>
            <a:ext cx="50292" cy="2651760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51676" y="2066544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FE0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7136892" y="2157984"/>
            <a:ext cx="40187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F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Informações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6551676" y="2795155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89420" y="2688336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 de linhas de transmissão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51676" y="3160915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789420" y="3054096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MW de capacidade instalada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51676" y="3526675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789420" y="3419856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 ao Google Analytics do site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551676" y="3892435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89420" y="3785616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Arquivos originais do logotipo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551676" y="4258195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789420" y="4151376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prévio do contrato de hospedagem atual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713232" y="4828032"/>
            <a:ext cx="10762488" cy="1225296"/>
          </a:xfrm>
          <a:prstGeom prst="rect">
            <a:avLst/>
          </a:prstGeom>
          <a:solidFill>
            <a:srgbClr val="E7F4EC"/>
          </a:solidFill>
          <a:ln/>
        </p:spPr>
      </p:sp>
      <p:sp>
        <p:nvSpPr>
          <p:cNvPr id="36" name="Shape 34"/>
          <p:cNvSpPr/>
          <p:nvPr/>
        </p:nvSpPr>
        <p:spPr>
          <a:xfrm>
            <a:off x="713232" y="4828032"/>
            <a:ext cx="50292" cy="1225296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042416" y="4992624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38" name="Text 36"/>
          <p:cNvSpPr txBox="1"/>
          <p:nvPr/>
        </p:nvSpPr>
        <p:spPr>
          <a:xfrm>
            <a:off x="1627632" y="508406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Autorizações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1042416" y="5541264"/>
            <a:ext cx="10104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Executar as correções emergenciais esta semana   ·   Guardar cópia do conteúdo público do site   ·   Abrir a conta do gerenciador de conteúdo em nome da Alupar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713232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institucional Alupar  ·  </a:t>
            </a:r>
            <a:pPr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ness</a:t>
            </a:r>
            <a:pPr indent="0" marL="0">
              <a:buNone/>
            </a:pPr>
            <a:r>
              <a:rPr lang="en-US" sz="850" dirty="0">
                <a:solidFill>
                  <a:srgbClr val="00ADE8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.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10835640" y="63825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" y="475488"/>
            <a:ext cx="274320" cy="6858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5568" y="402336"/>
            <a:ext cx="10360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· RELÓGIOS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713232"/>
            <a:ext cx="10762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com prazo próprio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243584"/>
            <a:ext cx="92557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esperam pelo cronograma do projeto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13232" y="1645920"/>
            <a:ext cx="10762488" cy="10973"/>
          </a:xfrm>
          <a:prstGeom prst="rect">
            <a:avLst/>
          </a:prstGeom>
          <a:solidFill>
            <a:srgbClr val="E2E7E4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938528"/>
            <a:ext cx="10762488" cy="1243584"/>
          </a:xfrm>
          <a:prstGeom prst="rect">
            <a:avLst/>
          </a:prstGeom>
          <a:solidFill>
            <a:srgbClr val="F8F0DE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938528"/>
            <a:ext cx="50292" cy="1243584"/>
          </a:xfrm>
          <a:prstGeom prst="rect">
            <a:avLst/>
          </a:prstGeom>
          <a:solidFill>
            <a:srgbClr val="8A641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42416" y="21214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A6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da virada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502152" y="2103120"/>
            <a:ext cx="10973" cy="914400"/>
          </a:xfrm>
          <a:prstGeom prst="rect">
            <a:avLst/>
          </a:prstGeom>
          <a:solidFill>
            <a:srgbClr val="D8C7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49040" y="2103120"/>
            <a:ext cx="7379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4F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do Google Analytics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2468880"/>
            <a:ext cx="7379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Precisamos extrair a linha de base antes de o site novo entrar no ar. Depois disso não há como comparar o antes e o depois, e o dado não se recupera.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13232" y="3328416"/>
            <a:ext cx="10762488" cy="1243584"/>
          </a:xfrm>
          <a:prstGeom prst="rect">
            <a:avLst/>
          </a:prstGeom>
          <a:solidFill>
            <a:srgbClr val="F8F0DE"/>
          </a:solidFill>
          <a:ln/>
        </p:spPr>
      </p:sp>
      <p:sp>
        <p:nvSpPr>
          <p:cNvPr id="14" name="Shape 12"/>
          <p:cNvSpPr/>
          <p:nvPr/>
        </p:nvSpPr>
        <p:spPr>
          <a:xfrm>
            <a:off x="713232" y="3328416"/>
            <a:ext cx="50292" cy="1243584"/>
          </a:xfrm>
          <a:prstGeom prst="rect">
            <a:avLst/>
          </a:prstGeom>
          <a:solidFill>
            <a:srgbClr val="8A641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42416" y="35112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A6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502152" y="3493008"/>
            <a:ext cx="10973" cy="914400"/>
          </a:xfrm>
          <a:prstGeom prst="rect">
            <a:avLst/>
          </a:prstGeom>
          <a:solidFill>
            <a:srgbClr val="D8C79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749040" y="3493008"/>
            <a:ext cx="7379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4F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Cópia dos arquivos do site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3858768"/>
            <a:ext cx="7379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118 arquivos que as páginas publicadas usam, 117 foram copiados em 10/09/2026. O que falta já não existia na origem: o release do 2T17 em inglês.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13232" y="4718304"/>
            <a:ext cx="10762488" cy="1243584"/>
          </a:xfrm>
          <a:prstGeom prst="rect">
            <a:avLst/>
          </a:prstGeom>
          <a:solidFill>
            <a:srgbClr val="F8F0DE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4718304"/>
            <a:ext cx="50292" cy="1243584"/>
          </a:xfrm>
          <a:prstGeom prst="rect">
            <a:avLst/>
          </a:prstGeom>
          <a:solidFill>
            <a:srgbClr val="8A641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42416" y="490118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A6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21/10/2026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502152" y="4882896"/>
            <a:ext cx="10973" cy="914400"/>
          </a:xfrm>
          <a:prstGeom prst="rect">
            <a:avLst/>
          </a:prstGeom>
          <a:solidFill>
            <a:srgbClr val="D8C79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749040" y="4882896"/>
            <a:ext cx="7379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4F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vencimento de certificado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3749040" y="5248656"/>
            <a:ext cx="7379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mesmo certificado do institucional e do portal de RI. Sem responsável nomeado e alerta configurado, a situação atual se repete.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13232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institucional Alupar  ·  </a:t>
            </a:r>
            <a:pPr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ness</a:t>
            </a:r>
            <a:pPr indent="0" marL="0">
              <a:buNone/>
            </a:pPr>
            <a:r>
              <a:rPr lang="en-US" sz="850" dirty="0">
                <a:solidFill>
                  <a:srgbClr val="00ADE8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.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10835640" y="63825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2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82712" y="0"/>
            <a:ext cx="4206240" cy="6858000"/>
          </a:xfrm>
          <a:prstGeom prst="rect">
            <a:avLst/>
          </a:prstGeom>
          <a:solidFill>
            <a:srgbClr val="00387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82712" y="96012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0" b="1" dirty="0">
                <a:solidFill>
                  <a:srgbClr val="004F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0" dirty="0"/>
          </a:p>
        </p:txBody>
      </p:sp>
      <p:sp>
        <p:nvSpPr>
          <p:cNvPr id="4" name="Shape 2"/>
          <p:cNvSpPr/>
          <p:nvPr/>
        </p:nvSpPr>
        <p:spPr>
          <a:xfrm>
            <a:off x="713232" y="2788920"/>
            <a:ext cx="1371600" cy="9144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3035808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39319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mensalidade, sem entrada, no lugar da que a Alupar já paga hoje. A implantação, a operação e a evolução do site cabem dentro dela.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institucional Alupar  ·  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ness</a:t>
            </a:r>
            <a:pPr indent="0" marL="0">
              <a:buNone/>
            </a:pPr>
            <a:r>
              <a:rPr lang="en-US" sz="850" dirty="0">
                <a:solidFill>
                  <a:srgbClr val="00ADE8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.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0835640" y="63825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" y="475488"/>
            <a:ext cx="274320" cy="6858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5568" y="402336"/>
            <a:ext cx="10360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· RESUMO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713232"/>
            <a:ext cx="10762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243584"/>
            <a:ext cx="92557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mensalidade no lugar da que a Alupar já paga — sem entrada e sem projeto a aprovar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13232" y="1645920"/>
            <a:ext cx="10762488" cy="10973"/>
          </a:xfrm>
          <a:prstGeom prst="rect">
            <a:avLst/>
          </a:prstGeom>
          <a:solidFill>
            <a:srgbClr val="E2E7E4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901952"/>
            <a:ext cx="2498598" cy="1481328"/>
          </a:xfrm>
          <a:prstGeom prst="rect">
            <a:avLst/>
          </a:prstGeom>
          <a:solidFill>
            <a:srgbClr val="F4F6F5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901952"/>
            <a:ext cx="50292" cy="1481328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87552" y="2084832"/>
            <a:ext cx="20413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04F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R$ 1.500</a:t>
            </a:r>
            <a:endParaRPr lang="en-US" sz="29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2688336"/>
            <a:ext cx="20413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mês — o mesmo que a Alupar paga hoje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67862" y="1901952"/>
            <a:ext cx="2498598" cy="1481328"/>
          </a:xfrm>
          <a:prstGeom prst="rect">
            <a:avLst/>
          </a:prstGeom>
          <a:solidFill>
            <a:srgbClr val="F4F6F5"/>
          </a:solidFill>
          <a:ln/>
        </p:spPr>
      </p:sp>
      <p:sp>
        <p:nvSpPr>
          <p:cNvPr id="12" name="Shape 10"/>
          <p:cNvSpPr/>
          <p:nvPr/>
        </p:nvSpPr>
        <p:spPr>
          <a:xfrm>
            <a:off x="3467862" y="1901952"/>
            <a:ext cx="50292" cy="1481328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742182" y="2084832"/>
            <a:ext cx="20413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04F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R$ 0</a:t>
            </a:r>
            <a:endParaRPr lang="en-US" sz="2900" dirty="0"/>
          </a:p>
        </p:txBody>
      </p:sp>
      <p:sp>
        <p:nvSpPr>
          <p:cNvPr id="14" name="Text 12"/>
          <p:cNvSpPr txBox="1"/>
          <p:nvPr/>
        </p:nvSpPr>
        <p:spPr>
          <a:xfrm>
            <a:off x="3742182" y="2688336"/>
            <a:ext cx="20413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entrada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22492" y="1901952"/>
            <a:ext cx="2498598" cy="1481328"/>
          </a:xfrm>
          <a:prstGeom prst="rect">
            <a:avLst/>
          </a:prstGeom>
          <a:solidFill>
            <a:srgbClr val="F4F6F5"/>
          </a:solidFill>
          <a:ln/>
        </p:spPr>
      </p:sp>
      <p:sp>
        <p:nvSpPr>
          <p:cNvPr id="16" name="Shape 14"/>
          <p:cNvSpPr/>
          <p:nvPr/>
        </p:nvSpPr>
        <p:spPr>
          <a:xfrm>
            <a:off x="6222492" y="1901952"/>
            <a:ext cx="50292" cy="1481328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6812" y="2084832"/>
            <a:ext cx="20413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04F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900" dirty="0"/>
          </a:p>
        </p:txBody>
      </p:sp>
      <p:sp>
        <p:nvSpPr>
          <p:cNvPr id="18" name="Text 16"/>
          <p:cNvSpPr txBox="1"/>
          <p:nvPr/>
        </p:nvSpPr>
        <p:spPr>
          <a:xfrm>
            <a:off x="6496812" y="2688336"/>
            <a:ext cx="20413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meses de contrato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977122" y="1901952"/>
            <a:ext cx="2498598" cy="1481328"/>
          </a:xfrm>
          <a:prstGeom prst="rect">
            <a:avLst/>
          </a:prstGeom>
          <a:solidFill>
            <a:srgbClr val="F4F6F5"/>
          </a:solidFill>
          <a:ln/>
        </p:spPr>
      </p:sp>
      <p:sp>
        <p:nvSpPr>
          <p:cNvPr id="20" name="Shape 18"/>
          <p:cNvSpPr/>
          <p:nvPr/>
        </p:nvSpPr>
        <p:spPr>
          <a:xfrm>
            <a:off x="8977122" y="1901952"/>
            <a:ext cx="50292" cy="1481328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51442" y="2084832"/>
            <a:ext cx="20413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a 7</a:t>
            </a:r>
            <a:endParaRPr lang="en-US" sz="2900" dirty="0"/>
          </a:p>
        </p:txBody>
      </p:sp>
      <p:sp>
        <p:nvSpPr>
          <p:cNvPr id="22" name="Text 20"/>
          <p:cNvSpPr txBox="1"/>
          <p:nvPr/>
        </p:nvSpPr>
        <p:spPr>
          <a:xfrm>
            <a:off x="9251442" y="2688336"/>
            <a:ext cx="20413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semanas até o site no ar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13232" y="3584448"/>
            <a:ext cx="10762488" cy="969264"/>
          </a:xfrm>
          <a:prstGeom prst="rect">
            <a:avLst/>
          </a:prstGeom>
          <a:solidFill>
            <a:srgbClr val="E7F4EC"/>
          </a:solidFill>
          <a:ln/>
        </p:spPr>
      </p:sp>
      <p:sp>
        <p:nvSpPr>
          <p:cNvPr id="24" name="Shape 22"/>
          <p:cNvSpPr/>
          <p:nvPr/>
        </p:nvSpPr>
        <p:spPr>
          <a:xfrm>
            <a:off x="713232" y="3584448"/>
            <a:ext cx="50292" cy="96926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60704" y="3767328"/>
            <a:ext cx="10067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cobrança começa na virada, quando o contrato com o fornecedor atual é encerrado. A Alupar nunca paga os dois ao mesmo tempo: o custo adicional é zero.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73168"/>
            <a:ext cx="10762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mesma linha de orçamento passa a pagar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13232" y="5227459"/>
            <a:ext cx="77724" cy="7772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50976" y="5120640"/>
            <a:ext cx="10524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site novo, em três idiomas, no lugar do WordPress de 2017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13232" y="5593219"/>
            <a:ext cx="77724" cy="7772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50976" y="5486400"/>
            <a:ext cx="10524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Comunicação publica sozinha, sem abrir chamado e sem esperar por ninguém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13232" y="5958979"/>
            <a:ext cx="77724" cy="7772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50976" y="5852160"/>
            <a:ext cx="10524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Manutenção, segurança e evolução do site durante todo o contrato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713232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institucional Alupar  ·  </a:t>
            </a:r>
            <a:pPr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ness</a:t>
            </a:r>
            <a:pPr indent="0" marL="0">
              <a:buNone/>
            </a:pPr>
            <a:r>
              <a:rPr lang="en-US" sz="850" dirty="0">
                <a:solidFill>
                  <a:srgbClr val="00ADE8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.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10835640" y="63825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" y="475488"/>
            <a:ext cx="274320" cy="6858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5568" y="402336"/>
            <a:ext cx="10360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· COBERTURA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713232"/>
            <a:ext cx="10762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mensalidade cobre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243584"/>
            <a:ext cx="92557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implantação à evolução — nada nesta página é cobrado à parte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13232" y="1645920"/>
            <a:ext cx="10762488" cy="10973"/>
          </a:xfrm>
          <a:prstGeom prst="rect">
            <a:avLst/>
          </a:prstGeom>
          <a:solidFill>
            <a:srgbClr val="E2E7E4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901952"/>
            <a:ext cx="3416808" cy="3401568"/>
          </a:xfrm>
          <a:prstGeom prst="rect">
            <a:avLst/>
          </a:prstGeom>
          <a:solidFill>
            <a:srgbClr val="E7F4EC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901952"/>
            <a:ext cx="50292" cy="3401568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24128" y="2084832"/>
            <a:ext cx="2813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implantação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24128" y="2809286"/>
            <a:ext cx="77724" cy="7772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61872" y="2706624"/>
            <a:ext cx="2557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novo em três idiomas, com a identidade visual atual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24128" y="3211622"/>
            <a:ext cx="77724" cy="7772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261872" y="3108960"/>
            <a:ext cx="2557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Migração de páginas, notícias, traduções e arquivos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1024128" y="3613958"/>
            <a:ext cx="77724" cy="7772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61872" y="3511296"/>
            <a:ext cx="2557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Redirecionamento de todos os endereços antigos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24128" y="4016294"/>
            <a:ext cx="77724" cy="7772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61872" y="3913632"/>
            <a:ext cx="2557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Acessibilidade WCAG 2.2 AA, SEO técnico e GEO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24128" y="4418630"/>
            <a:ext cx="77724" cy="7772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261872" y="4315968"/>
            <a:ext cx="2557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Formulário de contato com antispam e LGPD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024128" y="4820966"/>
            <a:ext cx="77724" cy="7772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61872" y="4718304"/>
            <a:ext cx="2557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Correções emergenciais, treinamento e documentação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86072" y="1901952"/>
            <a:ext cx="3416808" cy="3401568"/>
          </a:xfrm>
          <a:prstGeom prst="rect">
            <a:avLst/>
          </a:prstGeom>
          <a:solidFill>
            <a:srgbClr val="EAF1F9"/>
          </a:solidFill>
          <a:ln/>
        </p:spPr>
      </p:sp>
      <p:sp>
        <p:nvSpPr>
          <p:cNvPr id="23" name="Shape 21"/>
          <p:cNvSpPr/>
          <p:nvPr/>
        </p:nvSpPr>
        <p:spPr>
          <a:xfrm>
            <a:off x="4386072" y="1901952"/>
            <a:ext cx="50292" cy="3401568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696968" y="2084832"/>
            <a:ext cx="2813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F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mês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696968" y="2809286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34712" y="2706624"/>
            <a:ext cx="2557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Hospedagem em rede global de distribuição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96968" y="3211622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934712" y="3108960"/>
            <a:ext cx="2557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Domínio, DNS e certificados com renovação automática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696968" y="3613958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934712" y="3511296"/>
            <a:ext cx="2557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com alerta, com e sem “www”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696968" y="4016294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934712" y="3913632"/>
            <a:ext cx="2557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Cópia de segurança do conteúdo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96968" y="4418630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934712" y="4315968"/>
            <a:ext cx="2557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Atualizações de segurança e de versão da plataforma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696968" y="4820966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934712" y="4718304"/>
            <a:ext cx="2557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Verificação automática de qualidade a cada publicação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8058912" y="1901952"/>
            <a:ext cx="3416808" cy="3401568"/>
          </a:xfrm>
          <a:prstGeom prst="rect">
            <a:avLst/>
          </a:prstGeom>
          <a:solidFill>
            <a:srgbClr val="F8F0DE"/>
          </a:solidFill>
          <a:ln/>
        </p:spPr>
      </p:sp>
      <p:sp>
        <p:nvSpPr>
          <p:cNvPr id="38" name="Shape 36"/>
          <p:cNvSpPr/>
          <p:nvPr/>
        </p:nvSpPr>
        <p:spPr>
          <a:xfrm>
            <a:off x="8058912" y="1901952"/>
            <a:ext cx="50292" cy="3401568"/>
          </a:xfrm>
          <a:prstGeom prst="rect">
            <a:avLst/>
          </a:prstGeom>
          <a:solidFill>
            <a:srgbClr val="8A641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369808" y="2084832"/>
            <a:ext cx="2813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longo do ano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8369808" y="2809286"/>
            <a:ext cx="77724" cy="77724"/>
          </a:xfrm>
          <a:prstGeom prst="rect">
            <a:avLst/>
          </a:prstGeom>
          <a:solidFill>
            <a:srgbClr val="8A641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607552" y="2706624"/>
            <a:ext cx="2557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horas por ano para evolução e ajustes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369808" y="3211622"/>
            <a:ext cx="77724" cy="77724"/>
          </a:xfrm>
          <a:prstGeom prst="rect">
            <a:avLst/>
          </a:prstGeom>
          <a:solidFill>
            <a:srgbClr val="8A6410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607552" y="3108960"/>
            <a:ext cx="2557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Novas páginas e seções sob demanda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8369808" y="3613958"/>
            <a:ext cx="77724" cy="77724"/>
          </a:xfrm>
          <a:prstGeom prst="rect">
            <a:avLst/>
          </a:prstGeom>
          <a:solidFill>
            <a:srgbClr val="8A6410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607552" y="3511296"/>
            <a:ext cx="2557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Ajustes de conteúdo e de layout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369808" y="4016294"/>
            <a:ext cx="77724" cy="77724"/>
          </a:xfrm>
          <a:prstGeom prst="rect">
            <a:avLst/>
          </a:prstGeom>
          <a:solidFill>
            <a:srgbClr val="8A6410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8607552" y="3913632"/>
            <a:ext cx="2557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Publicação assistida sempre que precisar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369808" y="4418630"/>
            <a:ext cx="77724" cy="77724"/>
          </a:xfrm>
          <a:prstGeom prst="rect">
            <a:avLst/>
          </a:prstGeom>
          <a:solidFill>
            <a:srgbClr val="8A6410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607552" y="4315968"/>
            <a:ext cx="2557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semestral de desempenho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713232" y="5504688"/>
            <a:ext cx="10762488" cy="713232"/>
          </a:xfrm>
          <a:prstGeom prst="rect">
            <a:avLst/>
          </a:prstGeom>
          <a:solidFill>
            <a:srgbClr val="F4F6F5"/>
          </a:solidFill>
          <a:ln/>
        </p:spPr>
      </p:sp>
      <p:sp>
        <p:nvSpPr>
          <p:cNvPr id="51" name="Shape 49"/>
          <p:cNvSpPr/>
          <p:nvPr/>
        </p:nvSpPr>
        <p:spPr>
          <a:xfrm>
            <a:off x="713232" y="5504688"/>
            <a:ext cx="50292" cy="713232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060704" y="5687568"/>
            <a:ext cx="10067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implantação não tem entrada: está dentro da mensalidade. Código, conteúdo e contas ficam em nome da Alupar desde o primeiro dia.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713232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institucional Alupar  ·  </a:t>
            </a:r>
            <a:pPr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ness</a:t>
            </a:r>
            <a:pPr indent="0" marL="0">
              <a:buNone/>
            </a:pPr>
            <a:r>
              <a:rPr lang="en-US" sz="850" dirty="0">
                <a:solidFill>
                  <a:srgbClr val="00ADE8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.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10835640" y="63825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" y="475488"/>
            <a:ext cx="274320" cy="6858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5568" y="402336"/>
            <a:ext cx="10360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· COMPARAÇÃO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713232"/>
            <a:ext cx="10762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mensalidade, outro site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243584"/>
            <a:ext cx="92557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os mesmos R$ 1.500 pagam hoje, e o que passam a pagar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13232" y="1645920"/>
            <a:ext cx="10762488" cy="10973"/>
          </a:xfrm>
          <a:prstGeom prst="rect">
            <a:avLst/>
          </a:prstGeom>
          <a:solidFill>
            <a:srgbClr val="E2E7E4"/>
          </a:solidFill>
          <a:ln/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901952"/>
          <a:ext cx="10762488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703320"/>
                <a:gridCol w="3950208"/>
              </a:tblGrid>
              <a:tr h="3977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F9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Hoje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F9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a proposta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F9D"/>
                    </a:solidFill>
                  </a:tcPr>
                </a:tc>
              </a:tr>
              <a:tr h="3977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Mensalidade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R$ 1.500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689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R$ 1.500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Plataforma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WordPress com tema de 2017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689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site estático, sem servidor para manter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</a:tr>
              <a:tr h="3977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Publicação de conteúdo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última notícia em março de 2023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689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Comunicação publica sozinha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Domínio sem “www” em https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vencido desde 05/05/2026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689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renovação automática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</a:tr>
              <a:tr h="3977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Peso da página inicial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2,19 MB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689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600 KB, verificado a cada publicação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Inglês e espanhol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seis páginas respondem com erro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689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paridade verificada a cada publicação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</a:tr>
              <a:tr h="3977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Acessibilidade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imagens sem descrição, formulário sem rótulo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689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WCAG 2.2 AA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4F9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saída do contrato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F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 exportação do conteúdo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689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código, conteúdo e contas em nome da Alupar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7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13232" y="5577840"/>
            <a:ext cx="10762488" cy="676656"/>
          </a:xfrm>
          <a:prstGeom prst="rect">
            <a:avLst/>
          </a:prstGeom>
          <a:solidFill>
            <a:srgbClr val="EAF1F9"/>
          </a:solidFill>
          <a:ln/>
        </p:spPr>
      </p:sp>
      <p:sp>
        <p:nvSpPr>
          <p:cNvPr id="9" name="Shape 6"/>
          <p:cNvSpPr/>
          <p:nvPr/>
        </p:nvSpPr>
        <p:spPr>
          <a:xfrm>
            <a:off x="713232" y="5577840"/>
            <a:ext cx="50292" cy="676656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60704" y="5760720"/>
            <a:ext cx="10067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de orçamento é a mesma. O que muda é o que ela paga.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13232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institucional Alupar  ·  </a:t>
            </a:r>
            <a:pPr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ness</a:t>
            </a:r>
            <a:pPr indent="0" marL="0">
              <a:buNone/>
            </a:pPr>
            <a:r>
              <a:rPr lang="en-US" sz="850" dirty="0">
                <a:solidFill>
                  <a:srgbClr val="00ADE8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.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0835640" y="63825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" y="475488"/>
            <a:ext cx="274320" cy="6858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5568" y="402336"/>
            <a:ext cx="10360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· CONDIÇÕES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713232"/>
            <a:ext cx="10762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Condições e premissas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243584"/>
            <a:ext cx="92557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F7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válida por 30 dias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13232" y="1645920"/>
            <a:ext cx="10762488" cy="10973"/>
          </a:xfrm>
          <a:prstGeom prst="rect">
            <a:avLst/>
          </a:prstGeom>
          <a:solidFill>
            <a:srgbClr val="E2E7E4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901952"/>
            <a:ext cx="5253228" cy="2761488"/>
          </a:xfrm>
          <a:prstGeom prst="rect">
            <a:avLst/>
          </a:prstGeom>
          <a:solidFill>
            <a:srgbClr val="E7F4EC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901952"/>
            <a:ext cx="50292" cy="2761488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24128" y="2066544"/>
            <a:ext cx="46497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9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e prazo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24128" y="2573620"/>
            <a:ext cx="77724" cy="7772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61872" y="2468880"/>
            <a:ext cx="43936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R$ 1.500 por mês, por 48 meses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24128" y="2939380"/>
            <a:ext cx="77724" cy="7772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261872" y="2834640"/>
            <a:ext cx="43936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entrada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24128" y="3305140"/>
            <a:ext cx="77724" cy="7772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61872" y="3200400"/>
            <a:ext cx="43936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 a partir da virada do site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24128" y="3670900"/>
            <a:ext cx="77724" cy="7772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61872" y="3566160"/>
            <a:ext cx="43936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Reajuste anual pelo IPCA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024128" y="4036660"/>
            <a:ext cx="77724" cy="7772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261872" y="3931920"/>
            <a:ext cx="43936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Horas além do banco anual: R$ 120 por hora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22492" y="1901952"/>
            <a:ext cx="5253228" cy="2761488"/>
          </a:xfrm>
          <a:prstGeom prst="rect">
            <a:avLst/>
          </a:prstGeom>
          <a:solidFill>
            <a:srgbClr val="EAF1F9"/>
          </a:solidFill>
          <a:ln/>
        </p:spPr>
      </p:sp>
      <p:sp>
        <p:nvSpPr>
          <p:cNvPr id="21" name="Shape 19"/>
          <p:cNvSpPr/>
          <p:nvPr/>
        </p:nvSpPr>
        <p:spPr>
          <a:xfrm>
            <a:off x="6222492" y="1901952"/>
            <a:ext cx="50292" cy="2761488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33388" y="2066544"/>
            <a:ext cx="46497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F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coberto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533388" y="2573620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71132" y="2468880"/>
            <a:ext cx="43936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portal de Relações com Investidores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533388" y="2939380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71132" y="2834640"/>
            <a:ext cx="43936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sites rs, pdi e ma, até entrarem por acréscimo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533388" y="3305140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771132" y="3200400"/>
            <a:ext cx="43936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Redesenho da identidade visual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533388" y="3670900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771132" y="3566160"/>
            <a:ext cx="43936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 de fotografia ou vídeo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33388" y="4036660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71132" y="3931920"/>
            <a:ext cx="43936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Redação e tradução de conteúdo novo, fora do banco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13232" y="4791456"/>
            <a:ext cx="5253228" cy="1572768"/>
          </a:xfrm>
          <a:prstGeom prst="rect">
            <a:avLst/>
          </a:prstGeom>
          <a:solidFill>
            <a:srgbClr val="F4F6F5"/>
          </a:solidFill>
          <a:ln/>
        </p:spPr>
      </p:sp>
      <p:sp>
        <p:nvSpPr>
          <p:cNvPr id="34" name="Shape 32"/>
          <p:cNvSpPr/>
          <p:nvPr/>
        </p:nvSpPr>
        <p:spPr>
          <a:xfrm>
            <a:off x="713232" y="4791456"/>
            <a:ext cx="50292" cy="1572768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24128" y="4956048"/>
            <a:ext cx="46497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F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Rescisão e saída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1024128" y="5367528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261872" y="5266944"/>
            <a:ext cx="43936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36 meses, quita-se o saldo da implantação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24128" y="5623560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261872" y="5522976"/>
            <a:ext cx="43936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inicial de R$ 49.800, que cai 1/36 por mensalidade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024128" y="5879592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261872" y="5779008"/>
            <a:ext cx="43936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saída, código, conteúdo e contas ficam com a Alupar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024128" y="6135624"/>
            <a:ext cx="77724" cy="77724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261872" y="6035040"/>
            <a:ext cx="43936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Novos sites entram por acréscimo na mensalidade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222492" y="4791456"/>
            <a:ext cx="5253228" cy="1572768"/>
          </a:xfrm>
          <a:prstGeom prst="rect">
            <a:avLst/>
          </a:prstGeom>
          <a:solidFill>
            <a:srgbClr val="F8F0DE"/>
          </a:solidFill>
          <a:ln/>
        </p:spPr>
      </p:sp>
      <p:sp>
        <p:nvSpPr>
          <p:cNvPr id="45" name="Shape 43"/>
          <p:cNvSpPr/>
          <p:nvPr/>
        </p:nvSpPr>
        <p:spPr>
          <a:xfrm>
            <a:off x="6222492" y="4791456"/>
            <a:ext cx="50292" cy="1572768"/>
          </a:xfrm>
          <a:prstGeom prst="rect">
            <a:avLst/>
          </a:prstGeom>
          <a:solidFill>
            <a:srgbClr val="8A641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533388" y="4956048"/>
            <a:ext cx="46497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Premissas de prazo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6533388" y="5367528"/>
            <a:ext cx="77724" cy="77724"/>
          </a:xfrm>
          <a:prstGeom prst="rect">
            <a:avLst/>
          </a:prstGeom>
          <a:solidFill>
            <a:srgbClr val="8A6410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771132" y="5266944"/>
            <a:ext cx="43936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Aprovações em até 3 dias úteis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533388" y="5623560"/>
            <a:ext cx="77724" cy="77724"/>
          </a:xfrm>
          <a:prstGeom prst="rect">
            <a:avLst/>
          </a:prstGeom>
          <a:solidFill>
            <a:srgbClr val="8A6410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771132" y="5522976"/>
            <a:ext cx="43936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e acessos entregues até o Marco 2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533388" y="5879592"/>
            <a:ext cx="77724" cy="77724"/>
          </a:xfrm>
          <a:prstGeom prst="rect">
            <a:avLst/>
          </a:prstGeom>
          <a:solidFill>
            <a:srgbClr val="8A641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771132" y="5779008"/>
            <a:ext cx="43936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interlocutor por frente, nomeado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6533388" y="6135624"/>
            <a:ext cx="77724" cy="77724"/>
          </a:xfrm>
          <a:prstGeom prst="rect">
            <a:avLst/>
          </a:prstGeom>
          <a:solidFill>
            <a:srgbClr val="8A6410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771132" y="6035040"/>
            <a:ext cx="43936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Texto em português congelado no Marco 2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713232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institucional Alupar  ·  </a:t>
            </a:r>
            <a:pPr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ness</a:t>
            </a:r>
            <a:pPr indent="0" marL="0">
              <a:buNone/>
            </a:pPr>
            <a:r>
              <a:rPr lang="en-US" sz="850" dirty="0">
                <a:solidFill>
                  <a:srgbClr val="00ADE8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.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10835640" y="63825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2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82712" y="0"/>
            <a:ext cx="4206240" cy="6858000"/>
          </a:xfrm>
          <a:prstGeom prst="rect">
            <a:avLst/>
          </a:prstGeom>
          <a:solidFill>
            <a:srgbClr val="00387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82712" y="457200"/>
            <a:ext cx="420624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0" b="1" dirty="0">
                <a:solidFill>
                  <a:srgbClr val="004F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9000" dirty="0"/>
          </a:p>
        </p:txBody>
      </p:sp>
      <p:sp>
        <p:nvSpPr>
          <p:cNvPr id="4" name="Shape 2"/>
          <p:cNvSpPr/>
          <p:nvPr/>
        </p:nvSpPr>
        <p:spPr>
          <a:xfrm>
            <a:off x="713232" y="786384"/>
            <a:ext cx="1554480" cy="100584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00584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713232" y="2121408"/>
            <a:ext cx="7223760" cy="73152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2121408"/>
            <a:ext cx="50292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" y="23134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semana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295144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Corrigir o endereço sem “www” em https — já podemos executar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13232" y="3017520"/>
            <a:ext cx="7223760" cy="731520"/>
          </a:xfrm>
          <a:prstGeom prst="rect">
            <a:avLst/>
          </a:prstGeom>
          <a:solidFill>
            <a:srgbClr val="003872"/>
          </a:solidFill>
          <a:ln/>
        </p:spPr>
      </p:sp>
      <p:sp>
        <p:nvSpPr>
          <p:cNvPr id="11" name="Shape 9"/>
          <p:cNvSpPr/>
          <p:nvPr/>
        </p:nvSpPr>
        <p:spPr>
          <a:xfrm>
            <a:off x="713232" y="3017520"/>
            <a:ext cx="50292" cy="73152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24128" y="320954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D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Nesta reunião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3191256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cinco nomes e as três autorizações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13232" y="3913632"/>
            <a:ext cx="7223760" cy="731520"/>
          </a:xfrm>
          <a:prstGeom prst="rect">
            <a:avLst/>
          </a:prstGeom>
          <a:solidFill>
            <a:srgbClr val="003872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3913632"/>
            <a:ext cx="50292" cy="73152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24128" y="41056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D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assinatura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4087368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 da implantação — a mensalidade só começa na virada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13232" y="4809744"/>
            <a:ext cx="7223760" cy="731520"/>
          </a:xfrm>
          <a:prstGeom prst="rect">
            <a:avLst/>
          </a:prstGeom>
          <a:solidFill>
            <a:srgbClr val="00387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3232" y="4809744"/>
            <a:ext cx="50292" cy="731520"/>
          </a:xfrm>
          <a:prstGeom prst="rect">
            <a:avLst/>
          </a:prstGeom>
          <a:solidFill>
            <a:srgbClr val="07954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24128" y="50017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D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a Semana 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4983480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 números institucionais e o acesso ao Analytics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713232" y="5870448"/>
            <a:ext cx="7223760" cy="10973"/>
          </a:xfrm>
          <a:prstGeom prst="rect">
            <a:avLst/>
          </a:prstGeom>
          <a:solidFill>
            <a:srgbClr val="004F9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13232" y="601675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FE0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mínimo para hoje: o dono do conteúdo e a autorização das correções emergenciais.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13232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institucional Alupar  ·  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ness</a:t>
            </a:r>
            <a:pPr indent="0" marL="0">
              <a:buNone/>
            </a:pPr>
            <a:r>
              <a:rPr lang="en-US" sz="850" dirty="0">
                <a:solidFill>
                  <a:srgbClr val="00ADE8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.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10835640" y="63825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ness.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Site institucional Alupar</dc:title>
  <dc:subject>PptxGenJS Presentation</dc:subject>
  <dc:creator>ness.</dc:creator>
  <cp:lastModifiedBy>ness.</cp:lastModifiedBy>
  <cp:revision>1</cp:revision>
  <dcterms:created xsi:type="dcterms:W3CDTF">2026-09-10T18:16:02Z</dcterms:created>
  <dcterms:modified xsi:type="dcterms:W3CDTF">2026-09-10T18:16:02Z</dcterms:modified>
</cp:coreProperties>
</file>