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O objetivo é sair com decisões, não com informação: cinco nomes, cinco dados e a autorização do Marco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pelo que dói. O item do domínio já tem dono e pode ser executado antes mesmo desta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existe para justificar o dimensionamento. Nenhum número é estimado.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é redesenho. É o que separa um projeto de 500 horas de um de 900.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 decisão for WordPress por outra razão, ela é legítima — mas o custo de operação em 24 meses precisa entrar na conta antes da assinatura.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Argumento central: a garantia de não repetir a história é contratual, não uma promessa.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pedindo as duas coisas que não podem sair da reunião em aberto.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2712" y="0"/>
            <a:ext cx="4206240" cy="6858000"/>
          </a:xfrm>
          <a:prstGeom prst="rect">
            <a:avLst/>
          </a:prstGeom>
          <a:solidFill>
            <a:srgbClr val="00387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982712" y="0"/>
            <a:ext cx="4206240" cy="685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spc="600" kern="0" dirty="0">
                <a:solidFill>
                  <a:srgbClr val="004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ALUPAR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713232" y="2011680"/>
            <a:ext cx="2103120" cy="118872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22860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institucional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3182112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Diagnóstico, plano de execução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responsabilidades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42245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80" kern="0" dirty="0">
                <a:solidFill>
                  <a:srgbClr val="7FD4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alupar.com.br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13232" y="5742432"/>
            <a:ext cx="7132320" cy="10973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59070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Apresentado por Bekaa</a:t>
            </a:r>
            <a:pPr indent="0" marL="0">
              <a:buNone/>
            </a:pPr>
            <a:r>
              <a:rPr lang="en-US" sz="1200" dirty="0">
                <a:solidFill>
                  <a:srgbClr val="8FB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parceira da ness.   ·   Setembro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2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2712" y="0"/>
            <a:ext cx="4206240" cy="6858000"/>
          </a:xfrm>
          <a:prstGeom prst="rect">
            <a:avLst/>
          </a:prstGeom>
          <a:solidFill>
            <a:srgbClr val="00387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982712" y="960120"/>
            <a:ext cx="4206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004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713232" y="2788920"/>
            <a:ext cx="1371600" cy="91440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3035808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diagnóstico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39319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foi medido no site público, em 01 e 02 de setembro de 2026. Nenhum número aqui foi estimado — todos são reproduzíveis.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institucional Alupar  ·  Bekaa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0835640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75488"/>
            <a:ext cx="274320" cy="68580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5568" y="402336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79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· NÚMEROS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13232"/>
            <a:ext cx="10762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o site está hoje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243584"/>
            <a:ext cx="9255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F7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medições que resumem o estado do institucional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13232" y="1645920"/>
            <a:ext cx="10762488" cy="10973"/>
          </a:xfrm>
          <a:prstGeom prst="rect">
            <a:avLst/>
          </a:prstGeom>
          <a:solidFill>
            <a:srgbClr val="E2E7E4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1901952"/>
            <a:ext cx="2498598" cy="169164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901952"/>
            <a:ext cx="50292" cy="1691640"/>
          </a:xfrm>
          <a:prstGeom prst="rect">
            <a:avLst/>
          </a:prstGeom>
          <a:solidFill>
            <a:srgbClr val="A82F2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87552" y="2103120"/>
            <a:ext cx="204139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A82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987552" y="2834640"/>
            <a:ext cx="502920" cy="10973"/>
          </a:xfrm>
          <a:prstGeom prst="rect">
            <a:avLst/>
          </a:prstGeom>
          <a:solidFill>
            <a:srgbClr val="E2E7E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87552" y="2944368"/>
            <a:ext cx="20413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 com o endereço sem “www” quebrado em HTTPS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67862" y="1901952"/>
            <a:ext cx="2498598" cy="169164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13" name="Shape 11"/>
          <p:cNvSpPr/>
          <p:nvPr/>
        </p:nvSpPr>
        <p:spPr>
          <a:xfrm>
            <a:off x="3467862" y="1901952"/>
            <a:ext cx="50292" cy="1691640"/>
          </a:xfrm>
          <a:prstGeom prst="rect">
            <a:avLst/>
          </a:prstGeom>
          <a:solidFill>
            <a:srgbClr val="A82F2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742182" y="2103120"/>
            <a:ext cx="204139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A82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1.280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3742182" y="2834640"/>
            <a:ext cx="502920" cy="10973"/>
          </a:xfrm>
          <a:prstGeom prst="rect">
            <a:avLst/>
          </a:prstGeom>
          <a:solidFill>
            <a:srgbClr val="E2E7E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742182" y="2944368"/>
            <a:ext cx="20413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 desde a última notícia publicada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22492" y="1901952"/>
            <a:ext cx="2498598" cy="169164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18" name="Shape 16"/>
          <p:cNvSpPr/>
          <p:nvPr/>
        </p:nvSpPr>
        <p:spPr>
          <a:xfrm>
            <a:off x="6222492" y="1901952"/>
            <a:ext cx="50292" cy="1691640"/>
          </a:xfrm>
          <a:prstGeom prst="rect">
            <a:avLst/>
          </a:prstGeom>
          <a:solidFill>
            <a:srgbClr val="8A641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96812" y="2103120"/>
            <a:ext cx="204139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8A6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2,19 MB</a:t>
            </a:r>
            <a:endParaRPr lang="en-US" sz="4200" dirty="0"/>
          </a:p>
        </p:txBody>
      </p:sp>
      <p:sp>
        <p:nvSpPr>
          <p:cNvPr id="20" name="Shape 18"/>
          <p:cNvSpPr/>
          <p:nvPr/>
        </p:nvSpPr>
        <p:spPr>
          <a:xfrm>
            <a:off x="6496812" y="2834640"/>
            <a:ext cx="502920" cy="10973"/>
          </a:xfrm>
          <a:prstGeom prst="rect">
            <a:avLst/>
          </a:prstGeom>
          <a:solidFill>
            <a:srgbClr val="E2E7E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6812" y="2944368"/>
            <a:ext cx="20413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peso na página inicial — 84% em imagens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77122" y="1901952"/>
            <a:ext cx="2498598" cy="169164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23" name="Shape 21"/>
          <p:cNvSpPr/>
          <p:nvPr/>
        </p:nvSpPr>
        <p:spPr>
          <a:xfrm>
            <a:off x="8977122" y="1901952"/>
            <a:ext cx="50292" cy="1691640"/>
          </a:xfrm>
          <a:prstGeom prst="rect">
            <a:avLst/>
          </a:prstGeom>
          <a:solidFill>
            <a:srgbClr val="8A641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51442" y="2103120"/>
            <a:ext cx="204139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8A6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4200" dirty="0"/>
          </a:p>
        </p:txBody>
      </p:sp>
      <p:sp>
        <p:nvSpPr>
          <p:cNvPr id="25" name="Shape 23"/>
          <p:cNvSpPr/>
          <p:nvPr/>
        </p:nvSpPr>
        <p:spPr>
          <a:xfrm>
            <a:off x="9251442" y="2834640"/>
            <a:ext cx="502920" cy="10973"/>
          </a:xfrm>
          <a:prstGeom prst="rect">
            <a:avLst/>
          </a:prstGeom>
          <a:solidFill>
            <a:srgbClr val="E2E7E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251442" y="2944368"/>
            <a:ext cx="20413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endereços duplicados, públicos e indexáveis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13232" y="3913632"/>
            <a:ext cx="10762488" cy="1298448"/>
          </a:xfrm>
          <a:prstGeom prst="rect">
            <a:avLst/>
          </a:prstGeom>
          <a:solidFill>
            <a:srgbClr val="FAEAE8"/>
          </a:solidFill>
          <a:ln/>
        </p:spPr>
      </p:sp>
      <p:sp>
        <p:nvSpPr>
          <p:cNvPr id="28" name="Shape 26"/>
          <p:cNvSpPr/>
          <p:nvPr/>
        </p:nvSpPr>
        <p:spPr>
          <a:xfrm>
            <a:off x="713232" y="3913632"/>
            <a:ext cx="50292" cy="1298448"/>
          </a:xfrm>
          <a:prstGeom prst="rect">
            <a:avLst/>
          </a:prstGeom>
          <a:solidFill>
            <a:srgbClr val="A82F2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60704" y="4096512"/>
            <a:ext cx="10067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82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mais barato de corrigir — e o mais fácil de não enxergar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1060704" y="4425696"/>
            <a:ext cx="10067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endereço sem “www” funciona em http, mas quebra em https: o certificado venceu em 05/05/2026. O navegador tenta https, desiste e volta para http sozinho, então quase ninguém vê o erro. Veem quem usa modo “somente https”, e todo link escrito como https://alupar.com.br em e-mail, PDF ou material impresso.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13232" y="5413248"/>
            <a:ext cx="10762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F7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os números são reproduzíveis. Nenhum foi estimado.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institucional Alupar  ·  Bekaa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10835640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75488"/>
            <a:ext cx="274320" cy="68580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5568" y="402336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79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· EXPERIÊNCIA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13232"/>
            <a:ext cx="10762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um visitante encontra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243584"/>
            <a:ext cx="9255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F7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problemas que qualquer pessoa percebe, sem abrir o código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13232" y="1645920"/>
            <a:ext cx="10762488" cy="10973"/>
          </a:xfrm>
          <a:prstGeom prst="rect">
            <a:avLst/>
          </a:prstGeom>
          <a:solidFill>
            <a:srgbClr val="E2E7E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93852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938528"/>
            <a:ext cx="9939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 parado em março de 2023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231136"/>
            <a:ext cx="9939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última notícia tem 1.280 dias. No rotativo ainda giram um banner de COVID-19 de 2021 e três imagens de 2017.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13232" y="2724912"/>
            <a:ext cx="10762488" cy="7315"/>
          </a:xfrm>
          <a:prstGeom prst="rect">
            <a:avLst/>
          </a:prstGeom>
          <a:solidFill>
            <a:srgbClr val="E2E7E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81635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816352"/>
            <a:ext cx="9939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home não diz o que a Alupar faz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108960"/>
            <a:ext cx="9939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Banners, notícias, vídeo e três ícones. Em nenhum lugar está escrito o que a empresa é ou onde atua.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13232" y="3602736"/>
            <a:ext cx="10762488" cy="7315"/>
          </a:xfrm>
          <a:prstGeom prst="rect">
            <a:avLst/>
          </a:prstGeom>
          <a:solidFill>
            <a:srgbClr val="E2E7E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69417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694176"/>
            <a:ext cx="9939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site pesa quatro vezes o que deveria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986784"/>
            <a:ext cx="9939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2,19 MB na página inicial. Duas fotos de 2017 somam 1,28 MB. Nada é otimizado para celular.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13232" y="4480560"/>
            <a:ext cx="10762488" cy="7315"/>
          </a:xfrm>
          <a:prstGeom prst="rect">
            <a:avLst/>
          </a:prstGeom>
          <a:solidFill>
            <a:srgbClr val="E2E7E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3232" y="45720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572000"/>
            <a:ext cx="9939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Pessoas com deficiência não conseguem usar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4864608"/>
            <a:ext cx="9939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 imagem da home tem descrição. O formulário tem cinco campos e um único rótulo.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13232" y="5358384"/>
            <a:ext cx="10762488" cy="7315"/>
          </a:xfrm>
          <a:prstGeom prst="rect">
            <a:avLst/>
          </a:prstGeom>
          <a:solidFill>
            <a:srgbClr val="E2E7E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" y="544982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1463040" y="5449824"/>
            <a:ext cx="9939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Inglês e espanhol quebram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463040" y="5742432"/>
            <a:ext cx="9939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páginas não existem nesses idiomas — e o site responde com erro em vez de mostrar o português.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13232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institucional Alupar  ·  Bekaa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10835640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75488"/>
            <a:ext cx="274320" cy="68580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5568" y="402336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79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· INVENTÁRIO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13232"/>
            <a:ext cx="10762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tamanho real do site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243584"/>
            <a:ext cx="9255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F7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Medido no índice do próprio site — e bem maior do que o menu deixa ver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13232" y="1645920"/>
            <a:ext cx="10762488" cy="10973"/>
          </a:xfrm>
          <a:prstGeom prst="rect">
            <a:avLst/>
          </a:prstGeom>
          <a:solidFill>
            <a:srgbClr val="E2E7E4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901952"/>
          <a:ext cx="10762488" cy="914400"/>
        </p:xfrm>
        <a:graphic>
          <a:graphicData uri="http://schemas.openxmlformats.org/drawingml/2006/table">
            <a:tbl>
              <a:tblPr/>
              <a:tblGrid>
                <a:gridCol w="3337560"/>
                <a:gridCol w="1234440"/>
                <a:gridCol w="6190488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de conteúdo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F9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F9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Observação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F9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Páginas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menu mostra 12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Notícias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mais 84 traduções para inglês e espanhol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Perguntas frequentes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maior tipo de conteúdo do site, e fora do menu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Arquivos de mídia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imagens, documentos e PDFs indexados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Banners do rotativo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inclui o banner de COVID-19 de 2021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Blocos de empresas e temas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alimentam as páginas internas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Vídeos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13232" y="5138928"/>
            <a:ext cx="10762488" cy="1005840"/>
          </a:xfrm>
          <a:prstGeom prst="rect">
            <a:avLst/>
          </a:prstGeom>
          <a:solidFill>
            <a:srgbClr val="EAF1F9"/>
          </a:solidFill>
          <a:ln/>
        </p:spPr>
      </p:sp>
      <p:sp>
        <p:nvSpPr>
          <p:cNvPr id="9" name="Shape 6"/>
          <p:cNvSpPr/>
          <p:nvPr/>
        </p:nvSpPr>
        <p:spPr>
          <a:xfrm>
            <a:off x="713232" y="5138928"/>
            <a:ext cx="50292" cy="1005840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60704" y="5321808"/>
            <a:ext cx="100675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levantamento feito pelo menu encontra 12 páginas. O site tem cinco tipos de conteúdo, e três deles não aparecem na navegação. É a diferença entre um projeto que cabe no prazo e um que descobre o resto no meio do caminho.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13232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institucional Alupar  ·  Bekaa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0835640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75488"/>
            <a:ext cx="274320" cy="68580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5568" y="402336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79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· AMBIENTES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13232"/>
            <a:ext cx="10762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ambientes, um único portal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243584"/>
            <a:ext cx="9255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F7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outros três são páginas únicas — e não estão com o fornecedor atual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13232" y="1645920"/>
            <a:ext cx="10762488" cy="10973"/>
          </a:xfrm>
          <a:prstGeom prst="rect">
            <a:avLst/>
          </a:prstGeom>
          <a:solidFill>
            <a:srgbClr val="E2E7E4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901952"/>
          <a:ext cx="10762488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5760720"/>
                <a:gridCol w="1143000"/>
                <a:gridCol w="262432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Ambiente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F9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é de fato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F9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Mídia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F9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Onde está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F9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www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Portal completo: 45 páginas e cinco tipos de conteúdo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fornecedor atual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 página, mais uma “em breve…” esquecida de 2025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outro provedor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 página, mais uma “em construção” de 2024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outro provedor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 página única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outro provedor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13232" y="3950208"/>
            <a:ext cx="10762488" cy="1133856"/>
          </a:xfrm>
          <a:prstGeom prst="rect">
            <a:avLst/>
          </a:prstGeom>
          <a:solidFill>
            <a:srgbClr val="E7F4EC"/>
          </a:solidFill>
          <a:ln/>
        </p:spPr>
      </p:sp>
      <p:sp>
        <p:nvSpPr>
          <p:cNvPr id="9" name="Shape 6"/>
          <p:cNvSpPr/>
          <p:nvPr/>
        </p:nvSpPr>
        <p:spPr>
          <a:xfrm>
            <a:off x="713232" y="3950208"/>
            <a:ext cx="50292" cy="1133856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60704" y="4133088"/>
            <a:ext cx="10067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9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janela que se fecha sozinha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1060704" y="4462272"/>
            <a:ext cx="100675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três ambientes menores ainda permitem cópia automática do conteúdo. O portal principal não — ali o acesso programático está bloqueado, e a recuperação é página por página. Copiar os três agora custa horas; depois de uma troca de provedor, custa semanas.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13232" y="5266944"/>
            <a:ext cx="10762488" cy="786384"/>
          </a:xfrm>
          <a:prstGeom prst="rect">
            <a:avLst/>
          </a:prstGeom>
          <a:solidFill>
            <a:srgbClr val="F8F0DE"/>
          </a:solidFill>
          <a:ln/>
        </p:spPr>
      </p:sp>
      <p:sp>
        <p:nvSpPr>
          <p:cNvPr id="13" name="Shape 10"/>
          <p:cNvSpPr/>
          <p:nvPr/>
        </p:nvSpPr>
        <p:spPr>
          <a:xfrm>
            <a:off x="713232" y="5266944"/>
            <a:ext cx="50292" cy="786384"/>
          </a:xfrm>
          <a:prstGeom prst="rect">
            <a:avLst/>
          </a:prstGeom>
          <a:solidFill>
            <a:srgbClr val="8A641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60704" y="5449824"/>
            <a:ext cx="10067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portal de RI está fora do escopo, mas divide a mesma máquina do institucional. A virada do RI mexe na hospedagem daqui — as duas precisam ser coordenadas.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13232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institucional Alupar  ·  Bekaa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10835640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75488"/>
            <a:ext cx="274320" cy="68580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5568" y="402336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79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· CAUSA RAIZ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13232"/>
            <a:ext cx="10762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causa não é técnica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243584"/>
            <a:ext cx="9255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F7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sites, mesma empresa, mesma infraestrutura, mesmo fornecedor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13232" y="1645920"/>
            <a:ext cx="10762488" cy="10973"/>
          </a:xfrm>
          <a:prstGeom prst="rect">
            <a:avLst/>
          </a:prstGeom>
          <a:solidFill>
            <a:srgbClr val="E2E7E4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1901952"/>
            <a:ext cx="5253228" cy="3063240"/>
          </a:xfrm>
          <a:prstGeom prst="rect">
            <a:avLst/>
          </a:prstGeom>
          <a:solidFill>
            <a:srgbClr val="E7F4EC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901952"/>
            <a:ext cx="50292" cy="3063240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42416" y="2103120"/>
            <a:ext cx="4613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79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de RI · em dia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1042416" y="2542032"/>
            <a:ext cx="640080" cy="10973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11" name="Shape 9"/>
          <p:cNvSpPr/>
          <p:nvPr/>
        </p:nvSpPr>
        <p:spPr>
          <a:xfrm>
            <a:off x="1042416" y="2795155"/>
            <a:ext cx="77724" cy="77724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80160" y="2688336"/>
            <a:ext cx="43571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Última publicação de agosto de 2026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42416" y="3307219"/>
            <a:ext cx="77724" cy="77724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80160" y="3200400"/>
            <a:ext cx="43571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 responsável nomeado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42416" y="3819283"/>
            <a:ext cx="77724" cy="77724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80160" y="3712464"/>
            <a:ext cx="43571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 calendário e obrigação regulatória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42416" y="4331347"/>
            <a:ext cx="77724" cy="77724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280160" y="4224528"/>
            <a:ext cx="43571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Recebeu cabeçalhos de segurança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22492" y="1901952"/>
            <a:ext cx="5253228" cy="3063240"/>
          </a:xfrm>
          <a:prstGeom prst="rect">
            <a:avLst/>
          </a:prstGeom>
          <a:solidFill>
            <a:srgbClr val="FAEAE8"/>
          </a:solidFill>
          <a:ln/>
        </p:spPr>
      </p:sp>
      <p:sp>
        <p:nvSpPr>
          <p:cNvPr id="20" name="Shape 18"/>
          <p:cNvSpPr/>
          <p:nvPr/>
        </p:nvSpPr>
        <p:spPr>
          <a:xfrm>
            <a:off x="6222492" y="1901952"/>
            <a:ext cx="50292" cy="3063240"/>
          </a:xfrm>
          <a:prstGeom prst="rect">
            <a:avLst/>
          </a:prstGeom>
          <a:solidFill>
            <a:srgbClr val="A82F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51676" y="2103120"/>
            <a:ext cx="4613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82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Institucional · parado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6551676" y="2542032"/>
            <a:ext cx="640080" cy="10973"/>
          </a:xfrm>
          <a:prstGeom prst="rect">
            <a:avLst/>
          </a:prstGeom>
          <a:solidFill>
            <a:srgbClr val="A82F27"/>
          </a:solidFill>
          <a:ln/>
        </p:spPr>
      </p:sp>
      <p:sp>
        <p:nvSpPr>
          <p:cNvPr id="23" name="Shape 21"/>
          <p:cNvSpPr/>
          <p:nvPr/>
        </p:nvSpPr>
        <p:spPr>
          <a:xfrm>
            <a:off x="6551676" y="2795155"/>
            <a:ext cx="77724" cy="77724"/>
          </a:xfrm>
          <a:prstGeom prst="rect">
            <a:avLst/>
          </a:prstGeom>
          <a:solidFill>
            <a:srgbClr val="A82F2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789420" y="2688336"/>
            <a:ext cx="43571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Última publicação de março de 2023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51676" y="3307219"/>
            <a:ext cx="77724" cy="77724"/>
          </a:xfrm>
          <a:prstGeom prst="rect">
            <a:avLst/>
          </a:prstGeom>
          <a:solidFill>
            <a:srgbClr val="A82F2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789420" y="3200400"/>
            <a:ext cx="43571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tem responsável nomeado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551676" y="3819283"/>
            <a:ext cx="77724" cy="77724"/>
          </a:xfrm>
          <a:prstGeom prst="rect">
            <a:avLst/>
          </a:prstGeom>
          <a:solidFill>
            <a:srgbClr val="A82F2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789420" y="3712464"/>
            <a:ext cx="43571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tem calendário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551676" y="4331347"/>
            <a:ext cx="77724" cy="77724"/>
          </a:xfrm>
          <a:prstGeom prst="rect">
            <a:avLst/>
          </a:prstGeom>
          <a:solidFill>
            <a:srgbClr val="A82F2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789420" y="4224528"/>
            <a:ext cx="43571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recebeu as mesmas configurações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13232" y="5212080"/>
            <a:ext cx="10762488" cy="932688"/>
          </a:xfrm>
          <a:prstGeom prst="rect">
            <a:avLst/>
          </a:prstGeom>
          <a:solidFill>
            <a:srgbClr val="EAF1F9"/>
          </a:solidFill>
          <a:ln/>
        </p:spPr>
      </p:sp>
      <p:sp>
        <p:nvSpPr>
          <p:cNvPr id="32" name="Shape 30"/>
          <p:cNvSpPr/>
          <p:nvPr/>
        </p:nvSpPr>
        <p:spPr>
          <a:xfrm>
            <a:off x="713232" y="5212080"/>
            <a:ext cx="50292" cy="932688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060704" y="5394960"/>
            <a:ext cx="100675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tem dono, o outro não. Um site novo sem dono repete esta história em dois ou três anos — por isso “dono do conteúdo, com nome próprio” é condição de entrega, e não recomendação.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13232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institucional Alupar  ·  Bekaa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10835640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2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2712" y="0"/>
            <a:ext cx="4206240" cy="6858000"/>
          </a:xfrm>
          <a:prstGeom prst="rect">
            <a:avLst/>
          </a:prstGeom>
          <a:solidFill>
            <a:srgbClr val="00387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982712" y="960120"/>
            <a:ext cx="4206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004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713232" y="2788920"/>
            <a:ext cx="1371600" cy="91440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3035808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plano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39319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Restauro fiel da identidade, sete semanas de execução, marcos com porta de saída objetiva e responsabilidades com nome próprio.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institucional Alupar  ·  Bekaa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0835640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75488"/>
            <a:ext cx="274320" cy="68580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5568" y="402336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79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· ABORDAGEM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13232"/>
            <a:ext cx="10762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Restauro fiel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243584"/>
            <a:ext cx="9255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F7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identidade visual é preservada. Muda o que resolve um problema medido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13232" y="1645920"/>
            <a:ext cx="10762488" cy="10973"/>
          </a:xfrm>
          <a:prstGeom prst="rect">
            <a:avLst/>
          </a:prstGeom>
          <a:solidFill>
            <a:srgbClr val="E2E7E4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1901952"/>
            <a:ext cx="5253228" cy="2788920"/>
          </a:xfrm>
          <a:prstGeom prst="rect">
            <a:avLst/>
          </a:prstGeom>
          <a:solidFill>
            <a:srgbClr val="E7F4EC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901952"/>
            <a:ext cx="50292" cy="2788920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42416" y="2084832"/>
            <a:ext cx="4613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9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muda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042416" y="2612275"/>
            <a:ext cx="77724" cy="77724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80160" y="2505456"/>
            <a:ext cx="4357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Contraste de cor onde reprova a norma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42416" y="2978035"/>
            <a:ext cx="77724" cy="77724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80160" y="2871216"/>
            <a:ext cx="4357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Recorte dos banners no celular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42416" y="3343795"/>
            <a:ext cx="77724" cy="77724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80160" y="3236976"/>
            <a:ext cx="4357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Rótulos no formulário de contato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42416" y="3709555"/>
            <a:ext cx="77724" cy="77724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280160" y="3602736"/>
            <a:ext cx="4357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Indicação de foco para teclado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042416" y="4075315"/>
            <a:ext cx="77724" cy="77724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280160" y="3968496"/>
            <a:ext cx="4357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Peso, velocidade e imagens modernas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42416" y="4441075"/>
            <a:ext cx="77724" cy="77724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280160" y="4334256"/>
            <a:ext cx="4357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faixa de indicadores na home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22492" y="1901952"/>
            <a:ext cx="5253228" cy="2788920"/>
          </a:xfrm>
          <a:prstGeom prst="rect">
            <a:avLst/>
          </a:prstGeom>
          <a:solidFill>
            <a:srgbClr val="EAF1F9"/>
          </a:solidFill>
          <a:ln/>
        </p:spPr>
      </p:sp>
      <p:sp>
        <p:nvSpPr>
          <p:cNvPr id="23" name="Shape 21"/>
          <p:cNvSpPr/>
          <p:nvPr/>
        </p:nvSpPr>
        <p:spPr>
          <a:xfrm>
            <a:off x="6222492" y="1901952"/>
            <a:ext cx="50292" cy="2788920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51676" y="2084832"/>
            <a:ext cx="4613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4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muda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551676" y="2612275"/>
            <a:ext cx="77724" cy="77724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789420" y="2505456"/>
            <a:ext cx="4357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paleta da marca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551676" y="2978035"/>
            <a:ext cx="77724" cy="77724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789420" y="2871216"/>
            <a:ext cx="4357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tipografia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551676" y="3343795"/>
            <a:ext cx="77724" cy="77724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789420" y="3236976"/>
            <a:ext cx="4357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Cabeçalho, menu, rodapé e grade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551676" y="3709555"/>
            <a:ext cx="77724" cy="77724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789420" y="3602736"/>
            <a:ext cx="4357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ordem das seções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551676" y="4075315"/>
            <a:ext cx="77724" cy="77724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789420" y="3968496"/>
            <a:ext cx="4357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vocabulário visual do site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13232" y="4956048"/>
            <a:ext cx="10762488" cy="109728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36" name="Shape 34"/>
          <p:cNvSpPr/>
          <p:nvPr/>
        </p:nvSpPr>
        <p:spPr>
          <a:xfrm>
            <a:off x="713232" y="4956048"/>
            <a:ext cx="50292" cy="1097280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60704" y="5138928"/>
            <a:ext cx="100675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tela é conferida lado a lado contra a página atual e contra o portal de RI. Se alguém que conhece o site notar a mudança sem ser avisado, passou do ponto.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13232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institucional Alupar  ·  Bekaa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10835640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75488"/>
            <a:ext cx="274320" cy="68580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5568" y="402336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79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· PLATAFORMA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13232"/>
            <a:ext cx="10762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não seguir no WordPress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243584"/>
            <a:ext cx="9255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F7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pergunta foi levantada, e merece resposta com número — não com preferência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13232" y="1645920"/>
            <a:ext cx="10762488" cy="10973"/>
          </a:xfrm>
          <a:prstGeom prst="rect">
            <a:avLst/>
          </a:prstGeom>
          <a:solidFill>
            <a:srgbClr val="E2E7E4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1901952"/>
            <a:ext cx="5253228" cy="1481328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901952"/>
            <a:ext cx="50292" cy="1481328"/>
          </a:xfrm>
          <a:prstGeom prst="rect">
            <a:avLst/>
          </a:prstGeom>
          <a:solidFill>
            <a:srgbClr val="6F727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42416" y="2066544"/>
            <a:ext cx="46131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F7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argumento a favor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042416" y="2414016"/>
            <a:ext cx="45948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site de origem é WordPress. Manter o destino em WordPress tornaria a migração mais barata, porque o conteúdo passaria de um para o outro.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22492" y="1901952"/>
            <a:ext cx="5253228" cy="1481328"/>
          </a:xfrm>
          <a:prstGeom prst="rect">
            <a:avLst/>
          </a:prstGeom>
          <a:solidFill>
            <a:srgbClr val="FAEAE8"/>
          </a:solidFill>
          <a:ln/>
        </p:spPr>
      </p:sp>
      <p:sp>
        <p:nvSpPr>
          <p:cNvPr id="12" name="Shape 10"/>
          <p:cNvSpPr/>
          <p:nvPr/>
        </p:nvSpPr>
        <p:spPr>
          <a:xfrm>
            <a:off x="6222492" y="1901952"/>
            <a:ext cx="50292" cy="1481328"/>
          </a:xfrm>
          <a:prstGeom prst="rect">
            <a:avLst/>
          </a:prstGeom>
          <a:solidFill>
            <a:srgbClr val="A82F2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51676" y="2066544"/>
            <a:ext cx="46131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82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medição mostrou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551676" y="2414016"/>
            <a:ext cx="45948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acesso programático ao conteúdo do site atual está bloqueado. Não existe exportação. A recuperação é página por página — para qualquer destino.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13232" y="3566160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seja: a migração custa o mesmo nos dois caminhos. O que muda é o depois.</a:t>
            </a:r>
            <a:endParaRPr lang="en-US" sz="14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3986784"/>
          <a:ext cx="10762488" cy="914400"/>
        </p:xfrm>
        <a:graphic>
          <a:graphicData uri="http://schemas.openxmlformats.org/drawingml/2006/table">
            <a:tbl>
              <a:tblPr/>
              <a:tblGrid>
                <a:gridCol w="3886200"/>
                <a:gridCol w="3712464"/>
                <a:gridCol w="3163824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F9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WordPress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F9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Site estático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F9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 mensal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hospedagem, licenças e plugins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795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R$ 0 a 150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Manutenção obrigatória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núcleo, tema, plugins e versão do PHP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795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nenhuma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Superfície de invasão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permanente, e cresce com cada plugin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795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 há o que invadir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ficar sem dono de novo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 exatamente o que aconteceu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7954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site continua no ar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713232" y="5504688"/>
            <a:ext cx="10762488" cy="731520"/>
          </a:xfrm>
          <a:prstGeom prst="rect">
            <a:avLst/>
          </a:prstGeom>
          <a:solidFill>
            <a:srgbClr val="EAF1F9"/>
          </a:solidFill>
          <a:ln/>
        </p:spPr>
      </p:sp>
      <p:sp>
        <p:nvSpPr>
          <p:cNvPr id="18" name="Shape 15"/>
          <p:cNvSpPr/>
          <p:nvPr/>
        </p:nvSpPr>
        <p:spPr>
          <a:xfrm>
            <a:off x="713232" y="5504688"/>
            <a:ext cx="50292" cy="731520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060704" y="5687568"/>
            <a:ext cx="10067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causa do estado atual não é o WordPress — é a ausência de dono. Mas o WordPress pune essa ausência todo mês, e o site estático não.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713232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institucional Alupar  ·  Bekaa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10835640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75488"/>
            <a:ext cx="274320" cy="68580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5568" y="402336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79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· ARQUITETURA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13232"/>
            <a:ext cx="10762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site novo funciona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243584"/>
            <a:ext cx="9255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F7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peças, cada uma resolvendo um problema do arranjo atual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13232" y="1645920"/>
            <a:ext cx="10762488" cy="10973"/>
          </a:xfrm>
          <a:prstGeom prst="rect">
            <a:avLst/>
          </a:prstGeom>
          <a:solidFill>
            <a:srgbClr val="E2E7E4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1901952"/>
            <a:ext cx="3416808" cy="269748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901952"/>
            <a:ext cx="50292" cy="2697480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24128" y="2103120"/>
            <a:ext cx="2813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79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ASTRO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432304"/>
            <a:ext cx="281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4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estático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2962656"/>
            <a:ext cx="28133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página vira arquivo pronto, servido por rede de distribuição global. Sem servidor para cair, sem banco para consultar.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86072" y="1901952"/>
            <a:ext cx="3416808" cy="269748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13" name="Shape 11"/>
          <p:cNvSpPr/>
          <p:nvPr/>
        </p:nvSpPr>
        <p:spPr>
          <a:xfrm>
            <a:off x="4386072" y="1901952"/>
            <a:ext cx="50292" cy="2697480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96968" y="2103120"/>
            <a:ext cx="2813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79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696968" y="2432304"/>
            <a:ext cx="281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4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Publicação e domínio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696968" y="2962656"/>
            <a:ext cx="28133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Certificado renovado automaticamente — o incidente atual deixa de ser possível. A zona já é administrada pela ness.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58912" y="1901952"/>
            <a:ext cx="3416808" cy="269748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18" name="Shape 16"/>
          <p:cNvSpPr/>
          <p:nvPr/>
        </p:nvSpPr>
        <p:spPr>
          <a:xfrm>
            <a:off x="8058912" y="1901952"/>
            <a:ext cx="50292" cy="2697480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69808" y="2103120"/>
            <a:ext cx="2813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79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SANITY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369808" y="2432304"/>
            <a:ext cx="2813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4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Gerenciador de conteúdo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369808" y="2962656"/>
            <a:ext cx="28133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Comunicação publica notícia e troca banner sozinha, em três idiomas. Conta em nome da Alupar.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13232" y="4773168"/>
            <a:ext cx="10762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sai:  </a:t>
            </a:r>
            <a:pPr indent="0" marL="0">
              <a:buNone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WordPress, o tema de 2017, 21 arquivos de JavaScript, três bibliotecas de carrossel simultâneas e o suporte a Internet Explorer 8.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13232" y="5266944"/>
            <a:ext cx="10762488" cy="786384"/>
          </a:xfrm>
          <a:prstGeom prst="rect">
            <a:avLst/>
          </a:prstGeom>
          <a:solidFill>
            <a:srgbClr val="E7F4EC"/>
          </a:solidFill>
          <a:ln/>
        </p:spPr>
      </p:sp>
      <p:sp>
        <p:nvSpPr>
          <p:cNvPr id="24" name="Shape 22"/>
          <p:cNvSpPr/>
          <p:nvPr/>
        </p:nvSpPr>
        <p:spPr>
          <a:xfrm>
            <a:off x="713232" y="5266944"/>
            <a:ext cx="50292" cy="786384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60704" y="5449824"/>
            <a:ext cx="10067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mensal de infraestrutura depois da entrega: entre zero e R$ 150. Sem licença, sem servidor, sem contrato de hospedagem.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institucional Alupar  ·  Bekaa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10835640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75488"/>
            <a:ext cx="274320" cy="68580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5568" y="402336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79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· CRONOGRAMA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13232"/>
            <a:ext cx="10762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 semanas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243584"/>
            <a:ext cx="9255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F7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partir do início — mais as correções emergenciais, que já podem começar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13232" y="1645920"/>
            <a:ext cx="10762488" cy="10973"/>
          </a:xfrm>
          <a:prstGeom prst="rect">
            <a:avLst/>
          </a:prstGeom>
          <a:solidFill>
            <a:srgbClr val="E2E7E4"/>
          </a:solidFill>
          <a:ln/>
        </p:spPr>
      </p:sp>
      <p:sp>
        <p:nvSpPr>
          <p:cNvPr id="7" name="Shape 5"/>
          <p:cNvSpPr/>
          <p:nvPr/>
        </p:nvSpPr>
        <p:spPr>
          <a:xfrm>
            <a:off x="3502152" y="1847088"/>
            <a:ext cx="1139081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02152" y="1901952"/>
            <a:ext cx="11390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7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41233" y="1847088"/>
            <a:ext cx="1139081" cy="310896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41233" y="1901952"/>
            <a:ext cx="11390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7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80314" y="1847088"/>
            <a:ext cx="1139081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780314" y="1901952"/>
            <a:ext cx="11390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7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19395" y="1847088"/>
            <a:ext cx="1139081" cy="310896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919395" y="1901952"/>
            <a:ext cx="11390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7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58477" y="1847088"/>
            <a:ext cx="1139081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58477" y="1901952"/>
            <a:ext cx="11390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7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97558" y="1847088"/>
            <a:ext cx="1139081" cy="310896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97558" y="1901952"/>
            <a:ext cx="11390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7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336639" y="1847088"/>
            <a:ext cx="1139081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336639" y="1901952"/>
            <a:ext cx="113908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7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S7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" y="2194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Descoberta e inventário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547872" y="2231136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079541"/>
          </a:solidFill>
          <a:ln/>
        </p:spPr>
      </p:sp>
      <p:sp>
        <p:nvSpPr>
          <p:cNvPr id="23" name="Shape 21"/>
          <p:cNvSpPr/>
          <p:nvPr/>
        </p:nvSpPr>
        <p:spPr>
          <a:xfrm>
            <a:off x="4686953" y="2231136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F0F2F1"/>
          </a:solidFill>
          <a:ln/>
        </p:spPr>
      </p:sp>
      <p:sp>
        <p:nvSpPr>
          <p:cNvPr id="24" name="Shape 22"/>
          <p:cNvSpPr/>
          <p:nvPr/>
        </p:nvSpPr>
        <p:spPr>
          <a:xfrm>
            <a:off x="5826034" y="2231136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F0F2F1"/>
          </a:solidFill>
          <a:ln/>
        </p:spPr>
      </p:sp>
      <p:sp>
        <p:nvSpPr>
          <p:cNvPr id="25" name="Shape 23"/>
          <p:cNvSpPr/>
          <p:nvPr/>
        </p:nvSpPr>
        <p:spPr>
          <a:xfrm>
            <a:off x="6965115" y="2231136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F0F2F1"/>
          </a:solidFill>
          <a:ln/>
        </p:spPr>
      </p:sp>
      <p:sp>
        <p:nvSpPr>
          <p:cNvPr id="26" name="Shape 24"/>
          <p:cNvSpPr/>
          <p:nvPr/>
        </p:nvSpPr>
        <p:spPr>
          <a:xfrm>
            <a:off x="8104197" y="2231136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F0F2F1"/>
          </a:solidFill>
          <a:ln/>
        </p:spPr>
      </p:sp>
      <p:sp>
        <p:nvSpPr>
          <p:cNvPr id="27" name="Shape 25"/>
          <p:cNvSpPr/>
          <p:nvPr/>
        </p:nvSpPr>
        <p:spPr>
          <a:xfrm>
            <a:off x="9243278" y="2231136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F0F2F1"/>
          </a:solidFill>
          <a:ln/>
        </p:spPr>
      </p:sp>
      <p:sp>
        <p:nvSpPr>
          <p:cNvPr id="28" name="Shape 26"/>
          <p:cNvSpPr/>
          <p:nvPr/>
        </p:nvSpPr>
        <p:spPr>
          <a:xfrm>
            <a:off x="10382359" y="2231136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F0F2F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13232" y="25786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de identidade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547872" y="2615184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004F9D"/>
          </a:solidFill>
          <a:ln/>
        </p:spPr>
      </p:sp>
      <p:sp>
        <p:nvSpPr>
          <p:cNvPr id="31" name="Shape 29"/>
          <p:cNvSpPr/>
          <p:nvPr/>
        </p:nvSpPr>
        <p:spPr>
          <a:xfrm>
            <a:off x="4686953" y="2615184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004F9D"/>
          </a:solidFill>
          <a:ln/>
        </p:spPr>
      </p:sp>
      <p:sp>
        <p:nvSpPr>
          <p:cNvPr id="32" name="Shape 30"/>
          <p:cNvSpPr/>
          <p:nvPr/>
        </p:nvSpPr>
        <p:spPr>
          <a:xfrm>
            <a:off x="5826034" y="2615184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F0F2F1"/>
          </a:solidFill>
          <a:ln/>
        </p:spPr>
      </p:sp>
      <p:sp>
        <p:nvSpPr>
          <p:cNvPr id="33" name="Shape 31"/>
          <p:cNvSpPr/>
          <p:nvPr/>
        </p:nvSpPr>
        <p:spPr>
          <a:xfrm>
            <a:off x="6965115" y="2615184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F0F2F1"/>
          </a:solidFill>
          <a:ln/>
        </p:spPr>
      </p:sp>
      <p:sp>
        <p:nvSpPr>
          <p:cNvPr id="34" name="Shape 32"/>
          <p:cNvSpPr/>
          <p:nvPr/>
        </p:nvSpPr>
        <p:spPr>
          <a:xfrm>
            <a:off x="8104197" y="2615184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F0F2F1"/>
          </a:solidFill>
          <a:ln/>
        </p:spPr>
      </p:sp>
      <p:sp>
        <p:nvSpPr>
          <p:cNvPr id="35" name="Shape 33"/>
          <p:cNvSpPr/>
          <p:nvPr/>
        </p:nvSpPr>
        <p:spPr>
          <a:xfrm>
            <a:off x="9243278" y="2615184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F0F2F1"/>
          </a:solidFill>
          <a:ln/>
        </p:spPr>
      </p:sp>
      <p:sp>
        <p:nvSpPr>
          <p:cNvPr id="36" name="Shape 34"/>
          <p:cNvSpPr/>
          <p:nvPr/>
        </p:nvSpPr>
        <p:spPr>
          <a:xfrm>
            <a:off x="10382359" y="2615184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F0F2F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13232" y="29626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dos templates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547872" y="2999232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004F9D"/>
          </a:solidFill>
          <a:ln/>
        </p:spPr>
      </p:sp>
      <p:sp>
        <p:nvSpPr>
          <p:cNvPr id="39" name="Shape 37"/>
          <p:cNvSpPr/>
          <p:nvPr/>
        </p:nvSpPr>
        <p:spPr>
          <a:xfrm>
            <a:off x="4686953" y="2999232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004F9D"/>
          </a:solidFill>
          <a:ln/>
        </p:spPr>
      </p:sp>
      <p:sp>
        <p:nvSpPr>
          <p:cNvPr id="40" name="Shape 38"/>
          <p:cNvSpPr/>
          <p:nvPr/>
        </p:nvSpPr>
        <p:spPr>
          <a:xfrm>
            <a:off x="5826034" y="2999232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F0F2F1"/>
          </a:solidFill>
          <a:ln/>
        </p:spPr>
      </p:sp>
      <p:sp>
        <p:nvSpPr>
          <p:cNvPr id="41" name="Shape 39"/>
          <p:cNvSpPr/>
          <p:nvPr/>
        </p:nvSpPr>
        <p:spPr>
          <a:xfrm>
            <a:off x="6965115" y="2999232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F0F2F1"/>
          </a:solidFill>
          <a:ln/>
        </p:spPr>
      </p:sp>
      <p:sp>
        <p:nvSpPr>
          <p:cNvPr id="42" name="Shape 40"/>
          <p:cNvSpPr/>
          <p:nvPr/>
        </p:nvSpPr>
        <p:spPr>
          <a:xfrm>
            <a:off x="8104197" y="2999232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F0F2F1"/>
          </a:solidFill>
          <a:ln/>
        </p:spPr>
      </p:sp>
      <p:sp>
        <p:nvSpPr>
          <p:cNvPr id="43" name="Shape 41"/>
          <p:cNvSpPr/>
          <p:nvPr/>
        </p:nvSpPr>
        <p:spPr>
          <a:xfrm>
            <a:off x="9243278" y="2999232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F0F2F1"/>
          </a:solidFill>
          <a:ln/>
        </p:spPr>
      </p:sp>
      <p:sp>
        <p:nvSpPr>
          <p:cNvPr id="44" name="Shape 42"/>
          <p:cNvSpPr/>
          <p:nvPr/>
        </p:nvSpPr>
        <p:spPr>
          <a:xfrm>
            <a:off x="10382359" y="2999232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F0F2F1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13232" y="33467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3547872" y="3383280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F0F2F1"/>
          </a:solidFill>
          <a:ln/>
        </p:spPr>
      </p:sp>
      <p:sp>
        <p:nvSpPr>
          <p:cNvPr id="47" name="Shape 45"/>
          <p:cNvSpPr/>
          <p:nvPr/>
        </p:nvSpPr>
        <p:spPr>
          <a:xfrm>
            <a:off x="4686953" y="3383280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079541"/>
          </a:solidFill>
          <a:ln/>
        </p:spPr>
      </p:sp>
      <p:sp>
        <p:nvSpPr>
          <p:cNvPr id="48" name="Shape 46"/>
          <p:cNvSpPr/>
          <p:nvPr/>
        </p:nvSpPr>
        <p:spPr>
          <a:xfrm>
            <a:off x="5826034" y="3383280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079541"/>
          </a:solidFill>
          <a:ln/>
        </p:spPr>
      </p:sp>
      <p:sp>
        <p:nvSpPr>
          <p:cNvPr id="49" name="Shape 47"/>
          <p:cNvSpPr/>
          <p:nvPr/>
        </p:nvSpPr>
        <p:spPr>
          <a:xfrm>
            <a:off x="6965115" y="3383280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079541"/>
          </a:solidFill>
          <a:ln/>
        </p:spPr>
      </p:sp>
      <p:sp>
        <p:nvSpPr>
          <p:cNvPr id="50" name="Shape 48"/>
          <p:cNvSpPr/>
          <p:nvPr/>
        </p:nvSpPr>
        <p:spPr>
          <a:xfrm>
            <a:off x="8104197" y="3383280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079541"/>
          </a:solidFill>
          <a:ln/>
        </p:spPr>
      </p:sp>
      <p:sp>
        <p:nvSpPr>
          <p:cNvPr id="51" name="Shape 49"/>
          <p:cNvSpPr/>
          <p:nvPr/>
        </p:nvSpPr>
        <p:spPr>
          <a:xfrm>
            <a:off x="9243278" y="3383280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F0F2F1"/>
          </a:solidFill>
          <a:ln/>
        </p:spPr>
      </p:sp>
      <p:sp>
        <p:nvSpPr>
          <p:cNvPr id="52" name="Shape 50"/>
          <p:cNvSpPr/>
          <p:nvPr/>
        </p:nvSpPr>
        <p:spPr>
          <a:xfrm>
            <a:off x="10382359" y="3383280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F0F2F1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713232" y="37307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 e migração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3547872" y="3767328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F0F2F1"/>
          </a:solidFill>
          <a:ln/>
        </p:spPr>
      </p:sp>
      <p:sp>
        <p:nvSpPr>
          <p:cNvPr id="55" name="Shape 53"/>
          <p:cNvSpPr/>
          <p:nvPr/>
        </p:nvSpPr>
        <p:spPr>
          <a:xfrm>
            <a:off x="4686953" y="3767328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F0F2F1"/>
          </a:solidFill>
          <a:ln/>
        </p:spPr>
      </p:sp>
      <p:sp>
        <p:nvSpPr>
          <p:cNvPr id="56" name="Shape 54"/>
          <p:cNvSpPr/>
          <p:nvPr/>
        </p:nvSpPr>
        <p:spPr>
          <a:xfrm>
            <a:off x="5826034" y="3767328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004F9D"/>
          </a:solidFill>
          <a:ln/>
        </p:spPr>
      </p:sp>
      <p:sp>
        <p:nvSpPr>
          <p:cNvPr id="57" name="Shape 55"/>
          <p:cNvSpPr/>
          <p:nvPr/>
        </p:nvSpPr>
        <p:spPr>
          <a:xfrm>
            <a:off x="6965115" y="3767328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004F9D"/>
          </a:solidFill>
          <a:ln/>
        </p:spPr>
      </p:sp>
      <p:sp>
        <p:nvSpPr>
          <p:cNvPr id="58" name="Shape 56"/>
          <p:cNvSpPr/>
          <p:nvPr/>
        </p:nvSpPr>
        <p:spPr>
          <a:xfrm>
            <a:off x="8104197" y="3767328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004F9D"/>
          </a:solidFill>
          <a:ln/>
        </p:spPr>
      </p:sp>
      <p:sp>
        <p:nvSpPr>
          <p:cNvPr id="59" name="Shape 57"/>
          <p:cNvSpPr/>
          <p:nvPr/>
        </p:nvSpPr>
        <p:spPr>
          <a:xfrm>
            <a:off x="9243278" y="3767328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F0F2F1"/>
          </a:solidFill>
          <a:ln/>
        </p:spPr>
      </p:sp>
      <p:sp>
        <p:nvSpPr>
          <p:cNvPr id="60" name="Shape 58"/>
          <p:cNvSpPr/>
          <p:nvPr/>
        </p:nvSpPr>
        <p:spPr>
          <a:xfrm>
            <a:off x="10382359" y="3767328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F0F2F1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713232" y="4114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Traduções PT / EN / ES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3547872" y="4151376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F0F2F1"/>
          </a:solidFill>
          <a:ln/>
        </p:spPr>
      </p:sp>
      <p:sp>
        <p:nvSpPr>
          <p:cNvPr id="63" name="Shape 61"/>
          <p:cNvSpPr/>
          <p:nvPr/>
        </p:nvSpPr>
        <p:spPr>
          <a:xfrm>
            <a:off x="4686953" y="4151376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F0F2F1"/>
          </a:solidFill>
          <a:ln/>
        </p:spPr>
      </p:sp>
      <p:sp>
        <p:nvSpPr>
          <p:cNvPr id="64" name="Shape 62"/>
          <p:cNvSpPr/>
          <p:nvPr/>
        </p:nvSpPr>
        <p:spPr>
          <a:xfrm>
            <a:off x="5826034" y="4151376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004F9D"/>
          </a:solidFill>
          <a:ln/>
        </p:spPr>
      </p:sp>
      <p:sp>
        <p:nvSpPr>
          <p:cNvPr id="65" name="Shape 63"/>
          <p:cNvSpPr/>
          <p:nvPr/>
        </p:nvSpPr>
        <p:spPr>
          <a:xfrm>
            <a:off x="6965115" y="4151376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004F9D"/>
          </a:solidFill>
          <a:ln/>
        </p:spPr>
      </p:sp>
      <p:sp>
        <p:nvSpPr>
          <p:cNvPr id="66" name="Shape 64"/>
          <p:cNvSpPr/>
          <p:nvPr/>
        </p:nvSpPr>
        <p:spPr>
          <a:xfrm>
            <a:off x="8104197" y="4151376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004F9D"/>
          </a:solidFill>
          <a:ln/>
        </p:spPr>
      </p:sp>
      <p:sp>
        <p:nvSpPr>
          <p:cNvPr id="67" name="Shape 65"/>
          <p:cNvSpPr/>
          <p:nvPr/>
        </p:nvSpPr>
        <p:spPr>
          <a:xfrm>
            <a:off x="9243278" y="4151376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F0F2F1"/>
          </a:solidFill>
          <a:ln/>
        </p:spPr>
      </p:sp>
      <p:sp>
        <p:nvSpPr>
          <p:cNvPr id="68" name="Shape 66"/>
          <p:cNvSpPr/>
          <p:nvPr/>
        </p:nvSpPr>
        <p:spPr>
          <a:xfrm>
            <a:off x="10382359" y="4151376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F0F2F1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713232" y="44988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Acessibilidade, SEO e GEO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3547872" y="4535424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F0F2F1"/>
          </a:solidFill>
          <a:ln/>
        </p:spPr>
      </p:sp>
      <p:sp>
        <p:nvSpPr>
          <p:cNvPr id="71" name="Shape 69"/>
          <p:cNvSpPr/>
          <p:nvPr/>
        </p:nvSpPr>
        <p:spPr>
          <a:xfrm>
            <a:off x="4686953" y="4535424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F0F2F1"/>
          </a:solidFill>
          <a:ln/>
        </p:spPr>
      </p:sp>
      <p:sp>
        <p:nvSpPr>
          <p:cNvPr id="72" name="Shape 70"/>
          <p:cNvSpPr/>
          <p:nvPr/>
        </p:nvSpPr>
        <p:spPr>
          <a:xfrm>
            <a:off x="5826034" y="4535424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F0F2F1"/>
          </a:solidFill>
          <a:ln/>
        </p:spPr>
      </p:sp>
      <p:sp>
        <p:nvSpPr>
          <p:cNvPr id="73" name="Shape 71"/>
          <p:cNvSpPr/>
          <p:nvPr/>
        </p:nvSpPr>
        <p:spPr>
          <a:xfrm>
            <a:off x="6965115" y="4535424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F0F2F1"/>
          </a:solidFill>
          <a:ln/>
        </p:spPr>
      </p:sp>
      <p:sp>
        <p:nvSpPr>
          <p:cNvPr id="74" name="Shape 72"/>
          <p:cNvSpPr/>
          <p:nvPr/>
        </p:nvSpPr>
        <p:spPr>
          <a:xfrm>
            <a:off x="8104197" y="4535424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079541"/>
          </a:solidFill>
          <a:ln/>
        </p:spPr>
      </p:sp>
      <p:sp>
        <p:nvSpPr>
          <p:cNvPr id="75" name="Shape 73"/>
          <p:cNvSpPr/>
          <p:nvPr/>
        </p:nvSpPr>
        <p:spPr>
          <a:xfrm>
            <a:off x="9243278" y="4535424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079541"/>
          </a:solidFill>
          <a:ln/>
        </p:spPr>
      </p:sp>
      <p:sp>
        <p:nvSpPr>
          <p:cNvPr id="76" name="Shape 74"/>
          <p:cNvSpPr/>
          <p:nvPr/>
        </p:nvSpPr>
        <p:spPr>
          <a:xfrm>
            <a:off x="10382359" y="4535424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F0F2F1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713232" y="48828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Publicação e infraestrutura</a:t>
            </a:r>
            <a:endParaRPr lang="en-US" sz="1150" dirty="0"/>
          </a:p>
        </p:txBody>
      </p:sp>
      <p:sp>
        <p:nvSpPr>
          <p:cNvPr id="78" name="Shape 76"/>
          <p:cNvSpPr/>
          <p:nvPr/>
        </p:nvSpPr>
        <p:spPr>
          <a:xfrm>
            <a:off x="3547872" y="4919472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F0F2F1"/>
          </a:solidFill>
          <a:ln/>
        </p:spPr>
      </p:sp>
      <p:sp>
        <p:nvSpPr>
          <p:cNvPr id="79" name="Shape 77"/>
          <p:cNvSpPr/>
          <p:nvPr/>
        </p:nvSpPr>
        <p:spPr>
          <a:xfrm>
            <a:off x="4686953" y="4919472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004F9D"/>
          </a:solidFill>
          <a:ln/>
        </p:spPr>
      </p:sp>
      <p:sp>
        <p:nvSpPr>
          <p:cNvPr id="80" name="Shape 78"/>
          <p:cNvSpPr/>
          <p:nvPr/>
        </p:nvSpPr>
        <p:spPr>
          <a:xfrm>
            <a:off x="5826034" y="4919472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F0F2F1"/>
          </a:solidFill>
          <a:ln/>
        </p:spPr>
      </p:sp>
      <p:sp>
        <p:nvSpPr>
          <p:cNvPr id="81" name="Shape 79"/>
          <p:cNvSpPr/>
          <p:nvPr/>
        </p:nvSpPr>
        <p:spPr>
          <a:xfrm>
            <a:off x="6965115" y="4919472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F0F2F1"/>
          </a:solidFill>
          <a:ln/>
        </p:spPr>
      </p:sp>
      <p:sp>
        <p:nvSpPr>
          <p:cNvPr id="82" name="Shape 80"/>
          <p:cNvSpPr/>
          <p:nvPr/>
        </p:nvSpPr>
        <p:spPr>
          <a:xfrm>
            <a:off x="8104197" y="4919472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004F9D"/>
          </a:solidFill>
          <a:ln/>
        </p:spPr>
      </p:sp>
      <p:sp>
        <p:nvSpPr>
          <p:cNvPr id="83" name="Shape 81"/>
          <p:cNvSpPr/>
          <p:nvPr/>
        </p:nvSpPr>
        <p:spPr>
          <a:xfrm>
            <a:off x="9243278" y="4919472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004F9D"/>
          </a:solidFill>
          <a:ln/>
        </p:spPr>
      </p:sp>
      <p:sp>
        <p:nvSpPr>
          <p:cNvPr id="84" name="Shape 82"/>
          <p:cNvSpPr/>
          <p:nvPr/>
        </p:nvSpPr>
        <p:spPr>
          <a:xfrm>
            <a:off x="10382359" y="4919472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F0F2F1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713232" y="52669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Homologação e virada</a:t>
            </a:r>
            <a:endParaRPr lang="en-US" sz="1150" dirty="0"/>
          </a:p>
        </p:txBody>
      </p:sp>
      <p:sp>
        <p:nvSpPr>
          <p:cNvPr id="86" name="Shape 84"/>
          <p:cNvSpPr/>
          <p:nvPr/>
        </p:nvSpPr>
        <p:spPr>
          <a:xfrm>
            <a:off x="3547872" y="5303520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F0F2F1"/>
          </a:solidFill>
          <a:ln/>
        </p:spPr>
      </p:sp>
      <p:sp>
        <p:nvSpPr>
          <p:cNvPr id="87" name="Shape 85"/>
          <p:cNvSpPr/>
          <p:nvPr/>
        </p:nvSpPr>
        <p:spPr>
          <a:xfrm>
            <a:off x="4686953" y="5303520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F0F2F1"/>
          </a:solidFill>
          <a:ln/>
        </p:spPr>
      </p:sp>
      <p:sp>
        <p:nvSpPr>
          <p:cNvPr id="88" name="Shape 86"/>
          <p:cNvSpPr/>
          <p:nvPr/>
        </p:nvSpPr>
        <p:spPr>
          <a:xfrm>
            <a:off x="5826034" y="5303520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F0F2F1"/>
          </a:solidFill>
          <a:ln/>
        </p:spPr>
      </p:sp>
      <p:sp>
        <p:nvSpPr>
          <p:cNvPr id="89" name="Shape 87"/>
          <p:cNvSpPr/>
          <p:nvPr/>
        </p:nvSpPr>
        <p:spPr>
          <a:xfrm>
            <a:off x="6965115" y="5303520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F0F2F1"/>
          </a:solidFill>
          <a:ln/>
        </p:spPr>
      </p:sp>
      <p:sp>
        <p:nvSpPr>
          <p:cNvPr id="90" name="Shape 88"/>
          <p:cNvSpPr/>
          <p:nvPr/>
        </p:nvSpPr>
        <p:spPr>
          <a:xfrm>
            <a:off x="8104197" y="5303520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F0F2F1"/>
          </a:solidFill>
          <a:ln/>
        </p:spPr>
      </p:sp>
      <p:sp>
        <p:nvSpPr>
          <p:cNvPr id="91" name="Shape 89"/>
          <p:cNvSpPr/>
          <p:nvPr/>
        </p:nvSpPr>
        <p:spPr>
          <a:xfrm>
            <a:off x="9243278" y="5303520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079541"/>
          </a:solidFill>
          <a:ln/>
        </p:spPr>
      </p:sp>
      <p:sp>
        <p:nvSpPr>
          <p:cNvPr id="92" name="Shape 90"/>
          <p:cNvSpPr/>
          <p:nvPr/>
        </p:nvSpPr>
        <p:spPr>
          <a:xfrm>
            <a:off x="10382359" y="5303520"/>
            <a:ext cx="1047641" cy="265176"/>
          </a:xfrm>
          <a:prstGeom prst="roundRect">
            <a:avLst>
              <a:gd name="adj" fmla="val 13793"/>
            </a:avLst>
          </a:prstGeom>
          <a:solidFill>
            <a:srgbClr val="079541"/>
          </a:solidFill>
          <a:ln/>
        </p:spPr>
      </p:sp>
      <p:sp>
        <p:nvSpPr>
          <p:cNvPr id="93" name="Shape 91"/>
          <p:cNvSpPr/>
          <p:nvPr/>
        </p:nvSpPr>
        <p:spPr>
          <a:xfrm>
            <a:off x="713232" y="5724144"/>
            <a:ext cx="10762488" cy="10973"/>
          </a:xfrm>
          <a:prstGeom prst="rect">
            <a:avLst/>
          </a:prstGeom>
          <a:solidFill>
            <a:srgbClr val="E2E7E4"/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713232" y="58155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7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Marcos</a:t>
            </a:r>
            <a:endParaRPr lang="en-US" sz="1100" dirty="0"/>
          </a:p>
        </p:txBody>
      </p:sp>
      <p:sp>
        <p:nvSpPr>
          <p:cNvPr id="95" name="Text 93"/>
          <p:cNvSpPr txBox="1"/>
          <p:nvPr/>
        </p:nvSpPr>
        <p:spPr>
          <a:xfrm>
            <a:off x="3502152" y="5815584"/>
            <a:ext cx="11390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9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150" dirty="0"/>
          </a:p>
        </p:txBody>
      </p:sp>
      <p:sp>
        <p:nvSpPr>
          <p:cNvPr id="96" name="Text 94"/>
          <p:cNvSpPr txBox="1"/>
          <p:nvPr/>
        </p:nvSpPr>
        <p:spPr>
          <a:xfrm>
            <a:off x="4641233" y="5815584"/>
            <a:ext cx="11390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9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150" dirty="0"/>
          </a:p>
        </p:txBody>
      </p:sp>
      <p:sp>
        <p:nvSpPr>
          <p:cNvPr id="97" name="Text 95"/>
          <p:cNvSpPr txBox="1"/>
          <p:nvPr/>
        </p:nvSpPr>
        <p:spPr>
          <a:xfrm>
            <a:off x="8058477" y="5815584"/>
            <a:ext cx="11390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9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150" dirty="0"/>
          </a:p>
        </p:txBody>
      </p:sp>
      <p:sp>
        <p:nvSpPr>
          <p:cNvPr id="98" name="Text 96"/>
          <p:cNvSpPr txBox="1"/>
          <p:nvPr/>
        </p:nvSpPr>
        <p:spPr>
          <a:xfrm>
            <a:off x="9197558" y="5815584"/>
            <a:ext cx="11390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9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150" dirty="0"/>
          </a:p>
        </p:txBody>
      </p:sp>
      <p:sp>
        <p:nvSpPr>
          <p:cNvPr id="99" name="Text 97"/>
          <p:cNvSpPr txBox="1"/>
          <p:nvPr/>
        </p:nvSpPr>
        <p:spPr>
          <a:xfrm>
            <a:off x="10336639" y="5815584"/>
            <a:ext cx="11390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9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150" dirty="0"/>
          </a:p>
        </p:txBody>
      </p:sp>
      <p:sp>
        <p:nvSpPr>
          <p:cNvPr id="100" name="Text 98"/>
          <p:cNvSpPr txBox="1"/>
          <p:nvPr/>
        </p:nvSpPr>
        <p:spPr>
          <a:xfrm>
            <a:off x="713232" y="6144768"/>
            <a:ext cx="10762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F7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datas de calendário dependem da data de início — por isso o cronograma é apresentado em semanas.</a:t>
            </a:r>
            <a:endParaRPr lang="en-US" sz="1100" dirty="0"/>
          </a:p>
        </p:txBody>
      </p:sp>
      <p:sp>
        <p:nvSpPr>
          <p:cNvPr id="101" name="Text 99"/>
          <p:cNvSpPr txBox="1"/>
          <p:nvPr/>
        </p:nvSpPr>
        <p:spPr>
          <a:xfrm>
            <a:off x="713232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institucional Alupar  ·  Bekaa</a:t>
            </a:r>
            <a:endParaRPr lang="en-US" sz="850" dirty="0"/>
          </a:p>
        </p:txBody>
      </p:sp>
      <p:sp>
        <p:nvSpPr>
          <p:cNvPr id="102" name="Text 100"/>
          <p:cNvSpPr txBox="1"/>
          <p:nvPr/>
        </p:nvSpPr>
        <p:spPr>
          <a:xfrm>
            <a:off x="10835640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75488"/>
            <a:ext cx="274320" cy="68580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5568" y="402336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79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· MARCOS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13232"/>
            <a:ext cx="10762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Marcos e portas de saída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243584"/>
            <a:ext cx="9255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F7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marco tem um critério objetivo — passa ou não passa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13232" y="1645920"/>
            <a:ext cx="10762488" cy="10973"/>
          </a:xfrm>
          <a:prstGeom prst="rect">
            <a:avLst/>
          </a:prstGeom>
          <a:solidFill>
            <a:srgbClr val="E2E7E4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901952"/>
          <a:ext cx="1076248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143000"/>
                <a:gridCol w="4617720"/>
                <a:gridCol w="3950208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F9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Quando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F9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Entrega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F9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Porta de saída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F9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Marco 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48–72 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Domínio corrigido, cabeçalhos aplicados, monitoramento ligado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endereço sem “www” responde normalmente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Semana 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Inventário fechado, arquitetura e identidade extraída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Destino definido para as 20 páginas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Semana 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aprovado, primeiras telas navegáveis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Aprovação formal do Marketing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Semana 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Conteúdo migrado e equipe publicando sozinha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Comunicação publica sem apoio técnico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Semana 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Site completo em homologação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Todos os critérios de aceite medidos e verdes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Semana 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Virada, redirecionamentos ativos, monitoramento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Nenhum endereço antigo quebrado por 7 dias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13232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institucional Alupar  ·  Bekaa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10835640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75488"/>
            <a:ext cx="274320" cy="68580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5568" y="402336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79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· EQUIPE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13232"/>
            <a:ext cx="10762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executa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243584"/>
            <a:ext cx="9255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F7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equipe alocada, com a função de cada um no projeto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13232" y="1645920"/>
            <a:ext cx="10762488" cy="10973"/>
          </a:xfrm>
          <a:prstGeom prst="rect">
            <a:avLst/>
          </a:prstGeom>
          <a:solidFill>
            <a:srgbClr val="E2E7E4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901952"/>
          <a:ext cx="10762488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880360"/>
                <a:gridCol w="4773168"/>
                <a:gridCol w="1691640"/>
              </a:tblGrid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Pessoa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F9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Cargo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F9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projeto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F9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Alocação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F9D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Camila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Líder de conta e estrategista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Descoberta, arquitetura de informação e interface com a Alupar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 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Marcela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PMO e governança de projetos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Coordenação, marcos, evidências e homologação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 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Lucas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Desenvolvimento e infraestrutura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Site, publicação, formulário, borda e monitoramento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 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Arquitetura de conteúdo e dados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 de conteúdo, migração do acervo, SEO e GEO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 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Helena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de interface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Captura de identidade, templates e direção de arte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 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Juliana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Redação e assessoria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Texto em português, revisão e textos alternativos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 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Especialista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Acessibilidade digital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Auditoria WCAG, teste com leitor de tela e correções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 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Tradução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Inglês e espanhol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Paridade de conteúdo nos três idiomas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Clarice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Jurídico e proteção de dados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Políticas de privacidade e consentimento LGPD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sob demanda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Gabi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Direção executiva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Escalonamento quando as áreas divergirem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sob demanda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13232" y="6053328"/>
            <a:ext cx="10762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F7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de 1,8 pessoa em tempo integral ao longo das sete semanas, com pico na Semana 4.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institucional Alupar  ·  Bekaa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10835640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75488"/>
            <a:ext cx="274320" cy="68580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5568" y="402336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79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· RESPONSABILIDADES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13232"/>
            <a:ext cx="10762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faz o quê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243584"/>
            <a:ext cx="9255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F7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executa · A decide e responde · C é ouvido antes · I é avisado depois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13232" y="1645920"/>
            <a:ext cx="10762488" cy="10973"/>
          </a:xfrm>
          <a:prstGeom prst="rect">
            <a:avLst/>
          </a:prstGeom>
          <a:solidFill>
            <a:srgbClr val="E2E7E4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901952"/>
          <a:ext cx="10762488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2331720"/>
                <a:gridCol w="2331720"/>
                <a:gridCol w="2212848"/>
                <a:gridCol w="10972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Frente de trabalho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F9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Executa (R)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F9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Aprova (A)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F9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Consultado (C)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F9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Informado (I)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F9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Correção do domínio em https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ness. · Infraestrutura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ness. · Infraestrutura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 Alupar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Comunicação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Descoberta e inventário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Camila · Líder de conta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Marcela · Gestão do projeto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Comunicação, 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Captura de identidade e guia de estilo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Helena · Design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Marketing Alupar · marca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Comunicação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Bekaa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dos templates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Helena · Design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Marketing Alupar · marca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Camila · Líder de conta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Comunicação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Desenvolvimento do site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Lucas · Desenvolvimento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Marcela · Gestão do projeto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Helena · Design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Alupar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 de conteúdo e migração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Sofia · Arquitetura de conteúdo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Marcela · Gestão do projeto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Comunicação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Equipe de 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Integração do feed de notícias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Sofia · Arquitetura de conteúdo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Marcela · Gestão do projeto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Equipe de 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Comunicação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13232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institucional Alupar  ·  Bekaa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10835640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75488"/>
            <a:ext cx="274320" cy="68580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5568" y="402336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79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· RESPONSABILIDADES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13232"/>
            <a:ext cx="10762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faz o quê (continuação)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243584"/>
            <a:ext cx="9255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F7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coluna que mais importa é a de aprovação: ela precisa de pessoa, não de área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13232" y="1645920"/>
            <a:ext cx="10762488" cy="10973"/>
          </a:xfrm>
          <a:prstGeom prst="rect">
            <a:avLst/>
          </a:prstGeom>
          <a:solidFill>
            <a:srgbClr val="E2E7E4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901952"/>
          <a:ext cx="10762488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2331720"/>
                <a:gridCol w="2331720"/>
                <a:gridCol w="2212848"/>
                <a:gridCol w="10972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Frente de trabalho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F9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Executa (R)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F9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Aprova (A)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F9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Consultado (C)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F9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Informado (I)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F9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Conteúdo e revisão em português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Juliana · Redação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Comunicação Alupar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Bekaa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Traduções inglês e espanhol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Tradução · EN/ES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Comunicação Alupar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Juliana · Redação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Acessibilidade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Especialista · Acessibilidade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Marcela · Gestão do projeto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Lucas · Desenvolvimento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Alupar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Políticas de privacidade e LGPD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Clarice · Jurídico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Jurídico Alupar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Lucas · Desenvolvimento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Comunicação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Infraestrutura e publicação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Lucas · Desenvolvimento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ness.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 Alupar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Homologação e virada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Marcela · Gestão do projeto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Comunicação Alupar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Diretoria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Operação depois da entrega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Comunicação Alupar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Comunicação Alupar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Bekaa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13232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institucional Alupar  ·  Bekaa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10835640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75488"/>
            <a:ext cx="274320" cy="68580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5568" y="402336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79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· DEPENDÊNCIAS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13232"/>
            <a:ext cx="10762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precisamos da Alupar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243584"/>
            <a:ext cx="9255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F7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consome horas do projeto. Todos travam algum início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13232" y="1645920"/>
            <a:ext cx="10762488" cy="10973"/>
          </a:xfrm>
          <a:prstGeom prst="rect">
            <a:avLst/>
          </a:prstGeom>
          <a:solidFill>
            <a:srgbClr val="E2E7E4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1901952"/>
            <a:ext cx="5253228" cy="265176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901952"/>
            <a:ext cx="50292" cy="2651760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42416" y="2066544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627632" y="2157984"/>
            <a:ext cx="4018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4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42416" y="2795155"/>
            <a:ext cx="77724" cy="77724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80160" y="2688336"/>
            <a:ext cx="4357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Interlocutor da equipe do portal de RI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42416" y="3160915"/>
            <a:ext cx="77724" cy="77724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80160" y="3054096"/>
            <a:ext cx="4357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Interlocutor do fornecedor atual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42416" y="3526675"/>
            <a:ext cx="77724" cy="77724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80160" y="3419856"/>
            <a:ext cx="4357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aprova uso da marca no Marketing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42416" y="3892435"/>
            <a:ext cx="77724" cy="77724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280160" y="3785616"/>
            <a:ext cx="4357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 do conteúdo institucional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42416" y="4258195"/>
            <a:ext cx="77724" cy="77724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280160" y="4151376"/>
            <a:ext cx="4357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padrinho executivo para impasses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22492" y="1901952"/>
            <a:ext cx="5253228" cy="265176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22" name="Shape 20"/>
          <p:cNvSpPr/>
          <p:nvPr/>
        </p:nvSpPr>
        <p:spPr>
          <a:xfrm>
            <a:off x="6222492" y="1901952"/>
            <a:ext cx="50292" cy="2651760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51676" y="2066544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7136892" y="2157984"/>
            <a:ext cx="4018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4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Informações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551676" y="2795155"/>
            <a:ext cx="77724" cy="77724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789420" y="2688336"/>
            <a:ext cx="4357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 de linhas de transmissão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551676" y="3160915"/>
            <a:ext cx="77724" cy="77724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789420" y="3054096"/>
            <a:ext cx="4357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MW de capacidade instalada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551676" y="3526675"/>
            <a:ext cx="77724" cy="77724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789420" y="3419856"/>
            <a:ext cx="4357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 ao Google Analytics do site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551676" y="3892435"/>
            <a:ext cx="77724" cy="77724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789420" y="3785616"/>
            <a:ext cx="4357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Arquivos originais do logotipo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551676" y="4258195"/>
            <a:ext cx="77724" cy="77724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789420" y="4151376"/>
            <a:ext cx="4357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do contrato de hospedagem atual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13232" y="4828032"/>
            <a:ext cx="10762488" cy="1225296"/>
          </a:xfrm>
          <a:prstGeom prst="rect">
            <a:avLst/>
          </a:prstGeom>
          <a:solidFill>
            <a:srgbClr val="E7F4EC"/>
          </a:solidFill>
          <a:ln/>
        </p:spPr>
      </p:sp>
      <p:sp>
        <p:nvSpPr>
          <p:cNvPr id="36" name="Shape 34"/>
          <p:cNvSpPr/>
          <p:nvPr/>
        </p:nvSpPr>
        <p:spPr>
          <a:xfrm>
            <a:off x="713232" y="4828032"/>
            <a:ext cx="50292" cy="1225296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42416" y="4992624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9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38" name="Text 36"/>
          <p:cNvSpPr txBox="1"/>
          <p:nvPr/>
        </p:nvSpPr>
        <p:spPr>
          <a:xfrm>
            <a:off x="1627632" y="508406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9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Autorizações</a:t>
            </a:r>
            <a:endParaRPr lang="en-US" sz="1700" dirty="0"/>
          </a:p>
        </p:txBody>
      </p:sp>
      <p:sp>
        <p:nvSpPr>
          <p:cNvPr id="39" name="Text 37"/>
          <p:cNvSpPr txBox="1"/>
          <p:nvPr/>
        </p:nvSpPr>
        <p:spPr>
          <a:xfrm>
            <a:off x="1042416" y="5541264"/>
            <a:ext cx="10104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Executar as correções emergenciais esta semana   ·   Guardar cópia do conteúdo público do site   ·   Abrir a conta do gerenciador de conteúdo em nome da Alupar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713232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institucional Alupar  ·  Bekaa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10835640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75488"/>
            <a:ext cx="274320" cy="68580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5568" y="402336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79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· RELÓGIOS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13232"/>
            <a:ext cx="10762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com prazo próprio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243584"/>
            <a:ext cx="9255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F7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esperam pelo cronograma do projeto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13232" y="1645920"/>
            <a:ext cx="10762488" cy="10973"/>
          </a:xfrm>
          <a:prstGeom prst="rect">
            <a:avLst/>
          </a:prstGeom>
          <a:solidFill>
            <a:srgbClr val="E2E7E4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1938528"/>
            <a:ext cx="10762488" cy="1243584"/>
          </a:xfrm>
          <a:prstGeom prst="rect">
            <a:avLst/>
          </a:prstGeom>
          <a:solidFill>
            <a:srgbClr val="F8F0DE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938528"/>
            <a:ext cx="50292" cy="1243584"/>
          </a:xfrm>
          <a:prstGeom prst="rect">
            <a:avLst/>
          </a:prstGeom>
          <a:solidFill>
            <a:srgbClr val="8A641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42416" y="21214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8A6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da virada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02152" y="2103120"/>
            <a:ext cx="10973" cy="914400"/>
          </a:xfrm>
          <a:prstGeom prst="rect">
            <a:avLst/>
          </a:prstGeom>
          <a:solidFill>
            <a:srgbClr val="D8C7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49040" y="2103120"/>
            <a:ext cx="7379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do Google Analytics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2468880"/>
            <a:ext cx="7379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Precisamos extrair a linha de base antes de o site novo entrar no ar. Depois disso não há como comparar o antes e o depois, e o dado não se recupera.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3232" y="3328416"/>
            <a:ext cx="10762488" cy="1243584"/>
          </a:xfrm>
          <a:prstGeom prst="rect">
            <a:avLst/>
          </a:prstGeom>
          <a:solidFill>
            <a:srgbClr val="F8F0DE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" y="3328416"/>
            <a:ext cx="50292" cy="1243584"/>
          </a:xfrm>
          <a:prstGeom prst="rect">
            <a:avLst/>
          </a:prstGeom>
          <a:solidFill>
            <a:srgbClr val="8A641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42416" y="35112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8A6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andamento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502152" y="3493008"/>
            <a:ext cx="10973" cy="914400"/>
          </a:xfrm>
          <a:prstGeom prst="rect">
            <a:avLst/>
          </a:prstGeom>
          <a:solidFill>
            <a:srgbClr val="D8C7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749040" y="3493008"/>
            <a:ext cx="7379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Cópia dos arquivos do site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749040" y="3858768"/>
            <a:ext cx="7379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São 160 arquivos e 247,6 MB, dos quais 120 estão hospedados na infraestrutura do fornecedor atual. O inventário já foi levantado.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13232" y="4718304"/>
            <a:ext cx="10762488" cy="1243584"/>
          </a:xfrm>
          <a:prstGeom prst="rect">
            <a:avLst/>
          </a:prstGeom>
          <a:solidFill>
            <a:srgbClr val="F8F0DE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4718304"/>
            <a:ext cx="50292" cy="1243584"/>
          </a:xfrm>
          <a:prstGeom prst="rect">
            <a:avLst/>
          </a:prstGeom>
          <a:solidFill>
            <a:srgbClr val="8A641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42416" y="49011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8A6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21/10/2026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502152" y="4882896"/>
            <a:ext cx="10973" cy="914400"/>
          </a:xfrm>
          <a:prstGeom prst="rect">
            <a:avLst/>
          </a:prstGeom>
          <a:solidFill>
            <a:srgbClr val="D8C79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749040" y="4882896"/>
            <a:ext cx="7379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vencimento de certificado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3749040" y="5248656"/>
            <a:ext cx="7379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Faltam 49 dias, e é o mesmo certificado do institucional e do portal de RI. Sem responsável nomeado e alerta configurado, a situação atual se repete.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13232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institucional Alupar  ·  Bekaa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0835640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2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2712" y="0"/>
            <a:ext cx="4206240" cy="6858000"/>
          </a:xfrm>
          <a:prstGeom prst="rect">
            <a:avLst/>
          </a:prstGeom>
          <a:solidFill>
            <a:srgbClr val="00387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982712" y="960120"/>
            <a:ext cx="4206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004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713232" y="2788920"/>
            <a:ext cx="1371600" cy="91440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3035808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proposta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39319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escopo abaixo já contempla toda a infraestrutura, a publicação, a acessibilidade e a encontrabilidade — SEO e GEO. Não há linha adicional depois.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institucional Alupar  ·  Bekaa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0835640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75488"/>
            <a:ext cx="274320" cy="68580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5568" y="402336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79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· RESUMO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13232"/>
            <a:ext cx="10762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proposta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243584"/>
            <a:ext cx="9255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F7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 formas de contratar. A decisão de hoje não é se — é como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13232" y="1645920"/>
            <a:ext cx="10762488" cy="10973"/>
          </a:xfrm>
          <a:prstGeom prst="rect">
            <a:avLst/>
          </a:prstGeom>
          <a:solidFill>
            <a:srgbClr val="E2E7E4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1901952"/>
            <a:ext cx="2498598" cy="1481328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901952"/>
            <a:ext cx="50292" cy="1481328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87552" y="2084832"/>
            <a:ext cx="20413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04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R$ 49.800</a:t>
            </a:r>
            <a:endParaRPr lang="en-US" sz="29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2688336"/>
            <a:ext cx="20413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fechado, tudo incluído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67862" y="1901952"/>
            <a:ext cx="2498598" cy="1481328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12" name="Shape 10"/>
          <p:cNvSpPr/>
          <p:nvPr/>
        </p:nvSpPr>
        <p:spPr>
          <a:xfrm>
            <a:off x="3467862" y="1901952"/>
            <a:ext cx="50292" cy="1481328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742182" y="2084832"/>
            <a:ext cx="20413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04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h</a:t>
            </a:r>
            <a:endParaRPr lang="en-US" sz="2900" dirty="0"/>
          </a:p>
        </p:txBody>
      </p:sp>
      <p:sp>
        <p:nvSpPr>
          <p:cNvPr id="14" name="Text 12"/>
          <p:cNvSpPr txBox="1"/>
          <p:nvPr/>
        </p:nvSpPr>
        <p:spPr>
          <a:xfrm>
            <a:off x="3742182" y="2688336"/>
            <a:ext cx="20413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oito frentes de trabalho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22492" y="1901952"/>
            <a:ext cx="2498598" cy="1481328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16" name="Shape 14"/>
          <p:cNvSpPr/>
          <p:nvPr/>
        </p:nvSpPr>
        <p:spPr>
          <a:xfrm>
            <a:off x="6222492" y="1901952"/>
            <a:ext cx="50292" cy="1481328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6812" y="2084832"/>
            <a:ext cx="20413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04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 7</a:t>
            </a:r>
            <a:endParaRPr lang="en-US" sz="2900" dirty="0"/>
          </a:p>
        </p:txBody>
      </p:sp>
      <p:sp>
        <p:nvSpPr>
          <p:cNvPr id="18" name="Text 16"/>
          <p:cNvSpPr txBox="1"/>
          <p:nvPr/>
        </p:nvSpPr>
        <p:spPr>
          <a:xfrm>
            <a:off x="6496812" y="2688336"/>
            <a:ext cx="20413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semanas até o site no ar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77122" y="1901952"/>
            <a:ext cx="2498598" cy="1481328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20" name="Shape 18"/>
          <p:cNvSpPr/>
          <p:nvPr/>
        </p:nvSpPr>
        <p:spPr>
          <a:xfrm>
            <a:off x="8977122" y="1901952"/>
            <a:ext cx="50292" cy="1481328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51442" y="2084832"/>
            <a:ext cx="20413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79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R$ 0–150</a:t>
            </a:r>
            <a:endParaRPr lang="en-US" sz="2900" dirty="0"/>
          </a:p>
        </p:txBody>
      </p:sp>
      <p:sp>
        <p:nvSpPr>
          <p:cNvPr id="22" name="Text 20"/>
          <p:cNvSpPr txBox="1"/>
          <p:nvPr/>
        </p:nvSpPr>
        <p:spPr>
          <a:xfrm>
            <a:off x="9251442" y="2688336"/>
            <a:ext cx="20413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infraestrutura por mês, depois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3232" y="3584448"/>
            <a:ext cx="10762488" cy="969264"/>
          </a:xfrm>
          <a:prstGeom prst="rect">
            <a:avLst/>
          </a:prstGeom>
          <a:solidFill>
            <a:srgbClr val="E7F4EC"/>
          </a:solidFill>
          <a:ln/>
        </p:spPr>
      </p:sp>
      <p:sp>
        <p:nvSpPr>
          <p:cNvPr id="24" name="Shape 22"/>
          <p:cNvSpPr/>
          <p:nvPr/>
        </p:nvSpPr>
        <p:spPr>
          <a:xfrm>
            <a:off x="713232" y="3584448"/>
            <a:ext cx="50292" cy="969264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60704" y="3767328"/>
            <a:ext cx="10067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correções emergenciais custam R$ 1.600 a 2.400 e começam esta semana — antes mesmo de decidir o resto. Elas são independentes, e ninguém precisa esperar por elas.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" y="4773168"/>
            <a:ext cx="10762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Repare no que este valor já dispensa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13232" y="5227459"/>
            <a:ext cx="77724" cy="77724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50976" y="5120640"/>
            <a:ext cx="10524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mensalidade de hospedagem que a Alupar paga hoje ao fornecedor atual deixa de existir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13232" y="5593219"/>
            <a:ext cx="77724" cy="77724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50976" y="5486400"/>
            <a:ext cx="10524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Comunicação publica sozinha, em três idiomas, sem abrir chamado e sem esperar por ninguém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13232" y="5958979"/>
            <a:ext cx="77724" cy="77724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50976" y="5852160"/>
            <a:ext cx="10524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verificação automática de qualidade impede que os problemas de hoje voltem a aparecer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713232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institucional Alupar  ·  Bekaa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10835640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75488"/>
            <a:ext cx="274320" cy="68580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5568" y="402336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79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· PROJETO FECHADO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13232"/>
            <a:ext cx="10762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Escopo e valores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243584"/>
            <a:ext cx="9255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F7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horas em oito frentes — infraestrutura, SEO e GEO já dentro do valor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13232" y="1645920"/>
            <a:ext cx="10762488" cy="10973"/>
          </a:xfrm>
          <a:prstGeom prst="rect">
            <a:avLst/>
          </a:prstGeom>
          <a:solidFill>
            <a:srgbClr val="E2E7E4"/>
          </a:solidFill>
          <a:ln/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901952"/>
          <a:ext cx="7269480" cy="914400"/>
        </p:xfrm>
        <a:graphic>
          <a:graphicData uri="http://schemas.openxmlformats.org/drawingml/2006/table">
            <a:tbl>
              <a:tblPr/>
              <a:tblGrid>
                <a:gridCol w="4251960"/>
                <a:gridCol w="1417320"/>
                <a:gridCol w="1600200"/>
              </a:tblGrid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Frente de trabalho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F9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Horas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F9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F9D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Descoberta e arquitetura de informação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 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R$ 3.200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Identidade visual e design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 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R$ 5.200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Desenvolvimento do site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 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R$ 12.700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Conteúdo, migração e traduções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 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R$ 10.300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Acessibilidade, SEO técnico e GEO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 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R$ 5.600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Formulário, LGPD e infraestrutura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 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R$ 5.600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Homologação e virada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 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R$ 4.000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Coordenação e governança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 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R$ 3.200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F9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 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F9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R$ 49.800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F9D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311896" y="1901952"/>
            <a:ext cx="3163824" cy="1325880"/>
          </a:xfrm>
          <a:prstGeom prst="rect">
            <a:avLst/>
          </a:prstGeom>
          <a:solidFill>
            <a:srgbClr val="F8F0DE"/>
          </a:solidFill>
          <a:ln/>
        </p:spPr>
      </p:sp>
      <p:sp>
        <p:nvSpPr>
          <p:cNvPr id="9" name="Shape 6"/>
          <p:cNvSpPr/>
          <p:nvPr/>
        </p:nvSpPr>
        <p:spPr>
          <a:xfrm>
            <a:off x="8311896" y="1901952"/>
            <a:ext cx="50292" cy="1325880"/>
          </a:xfrm>
          <a:prstGeom prst="rect">
            <a:avLst/>
          </a:prstGeom>
          <a:solidFill>
            <a:srgbClr val="8A641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586216" y="203911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6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Correções emergenciais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586216" y="232257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A6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R$ 1.600 a 2.400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8586216" y="2688336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a 24 horas, executadas em 48 a 72 horas. Independem da decisão sobre o restante.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311896" y="3364992"/>
            <a:ext cx="3163824" cy="1325880"/>
          </a:xfrm>
          <a:prstGeom prst="rect">
            <a:avLst/>
          </a:prstGeom>
          <a:solidFill>
            <a:srgbClr val="EAF1F9"/>
          </a:solidFill>
          <a:ln/>
        </p:spPr>
      </p:sp>
      <p:sp>
        <p:nvSpPr>
          <p:cNvPr id="14" name="Shape 11"/>
          <p:cNvSpPr/>
          <p:nvPr/>
        </p:nvSpPr>
        <p:spPr>
          <a:xfrm>
            <a:off x="8311896" y="3364992"/>
            <a:ext cx="50292" cy="1325880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586216" y="350215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4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Ambientes rs, pdi e ma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8586216" y="378561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4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 h  ·  R$ 9.600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8586216" y="4151376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páginas únicas e 445 arquivos de mídia. Opcional, e sem impacto no prazo do institucional.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311896" y="4828032"/>
            <a:ext cx="3163824" cy="1325880"/>
          </a:xfrm>
          <a:prstGeom prst="rect">
            <a:avLst/>
          </a:prstGeom>
          <a:solidFill>
            <a:srgbClr val="E7F4EC"/>
          </a:solidFill>
          <a:ln/>
        </p:spPr>
      </p:sp>
      <p:sp>
        <p:nvSpPr>
          <p:cNvPr id="19" name="Shape 16"/>
          <p:cNvSpPr/>
          <p:nvPr/>
        </p:nvSpPr>
        <p:spPr>
          <a:xfrm>
            <a:off x="8311896" y="4828032"/>
            <a:ext cx="50292" cy="1325880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586216" y="496519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79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da entrega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586216" y="524865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79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R$ 0 a 150 / mês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8586216" y="5614416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licença, sem servidor, sem contrato de hospedagem.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13232" y="5797296"/>
            <a:ext cx="7269480" cy="10973"/>
          </a:xfrm>
          <a:prstGeom prst="rect">
            <a:avLst/>
          </a:prstGeom>
          <a:solidFill>
            <a:srgbClr val="E2E7E4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13232" y="5907024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F7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banda de planejamento do projeto era de R$ 45.000 a 55.000. </a:t>
            </a:r>
            <a:pPr indent="0" marL="0">
              <a:buNone/>
            </a:pPr>
            <a:r>
              <a:rPr lang="en-US" sz="1050" b="1" i="1" dirty="0">
                <a:solidFill>
                  <a:srgbClr val="0F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valor acima fica no piso dessa banda</a:t>
            </a:r>
            <a:pPr indent="0" marL="0">
              <a:buNone/>
            </a:pPr>
            <a:r>
              <a:rPr lang="en-US" sz="1050" i="1" dirty="0">
                <a:solidFill>
                  <a:srgbClr val="6F7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 já inclui hospedagem, certificados, publicação, monitoramento, SEO técnico e GEO. As horas partem do inventário já medido: 45 páginas, 99 notícias, 84 traduções e cinco tipos de conteúdo.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713232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institucional Alupar  ·  Bekaa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10835640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75488"/>
            <a:ext cx="274320" cy="68580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5568" y="402336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79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· O QUE ESTÁ INCLUÍDO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13232"/>
            <a:ext cx="10762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Já está tudo dentro do valor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243584"/>
            <a:ext cx="9255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F7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existe linha adicional de infraestrutura, de publicação, de SEO ou de GEO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13232" y="1645920"/>
            <a:ext cx="10762488" cy="10973"/>
          </a:xfrm>
          <a:prstGeom prst="rect">
            <a:avLst/>
          </a:prstGeom>
          <a:solidFill>
            <a:srgbClr val="E2E7E4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1901952"/>
            <a:ext cx="3416808" cy="3401568"/>
          </a:xfrm>
          <a:prstGeom prst="rect">
            <a:avLst/>
          </a:prstGeom>
          <a:solidFill>
            <a:srgbClr val="E7F4EC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901952"/>
            <a:ext cx="50292" cy="3401568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24128" y="2084832"/>
            <a:ext cx="2813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9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Infraestrutura e publicação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24128" y="2809286"/>
            <a:ext cx="77724" cy="77724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61872" y="2706624"/>
            <a:ext cx="2557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Hospedagem em rede global de distribuição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24128" y="3211622"/>
            <a:ext cx="77724" cy="77724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61872" y="3108960"/>
            <a:ext cx="2557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Domínio, DNS e certificados com renovação automática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24128" y="3613958"/>
            <a:ext cx="77724" cy="77724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61872" y="3511296"/>
            <a:ext cx="2557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Ambientes de homologação e de produção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24128" y="4016294"/>
            <a:ext cx="77724" cy="77724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261872" y="3913632"/>
            <a:ext cx="2557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com alerta, com e sem “www”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24128" y="4418630"/>
            <a:ext cx="77724" cy="77724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261872" y="4315968"/>
            <a:ext cx="2557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Cópia de segurança do conteúdo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24128" y="4820966"/>
            <a:ext cx="77724" cy="77724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261872" y="4718304"/>
            <a:ext cx="2557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Formulário de contato, antispam e entrega de e-mail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86072" y="1901952"/>
            <a:ext cx="3416808" cy="3401568"/>
          </a:xfrm>
          <a:prstGeom prst="rect">
            <a:avLst/>
          </a:prstGeom>
          <a:solidFill>
            <a:srgbClr val="EAF1F9"/>
          </a:solidFill>
          <a:ln/>
        </p:spPr>
      </p:sp>
      <p:sp>
        <p:nvSpPr>
          <p:cNvPr id="23" name="Shape 21"/>
          <p:cNvSpPr/>
          <p:nvPr/>
        </p:nvSpPr>
        <p:spPr>
          <a:xfrm>
            <a:off x="4386072" y="1901952"/>
            <a:ext cx="50292" cy="3401568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696968" y="2084832"/>
            <a:ext cx="2813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Encontrabilidade — SEO e GEO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696968" y="2809286"/>
            <a:ext cx="77724" cy="77724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934712" y="2706624"/>
            <a:ext cx="2557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técnica, sitemap e velocidade de carregamento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696968" y="3211622"/>
            <a:ext cx="77724" cy="77724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934712" y="3108960"/>
            <a:ext cx="2557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Redirecionamento de todos os endereços antigos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696968" y="3613958"/>
            <a:ext cx="77724" cy="77724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934712" y="3511296"/>
            <a:ext cx="2557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estruturados que os motores de IA leem para citar a Alupar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696968" y="4016294"/>
            <a:ext cx="77724" cy="77724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934712" y="3913632"/>
            <a:ext cx="2557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Textos alternativos, semântica e hierarquia de títulos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696968" y="4418630"/>
            <a:ext cx="77724" cy="77724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934712" y="4315968"/>
            <a:ext cx="2557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Analytics e Search Console configurados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696968" y="4820966"/>
            <a:ext cx="77724" cy="77724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934712" y="4718304"/>
            <a:ext cx="2557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de base medida antes e depois da virada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058912" y="1901952"/>
            <a:ext cx="3416808" cy="3401568"/>
          </a:xfrm>
          <a:prstGeom prst="rect">
            <a:avLst/>
          </a:prstGeom>
          <a:solidFill>
            <a:srgbClr val="F8F0DE"/>
          </a:solidFill>
          <a:ln/>
        </p:spPr>
      </p:sp>
      <p:sp>
        <p:nvSpPr>
          <p:cNvPr id="38" name="Shape 36"/>
          <p:cNvSpPr/>
          <p:nvPr/>
        </p:nvSpPr>
        <p:spPr>
          <a:xfrm>
            <a:off x="8058912" y="1901952"/>
            <a:ext cx="50292" cy="3401568"/>
          </a:xfrm>
          <a:prstGeom prst="rect">
            <a:avLst/>
          </a:prstGeom>
          <a:solidFill>
            <a:srgbClr val="8A641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369808" y="2084832"/>
            <a:ext cx="2813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Conteúdo, norma e time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8369808" y="2809286"/>
            <a:ext cx="77724" cy="77724"/>
          </a:xfrm>
          <a:prstGeom prst="rect">
            <a:avLst/>
          </a:prstGeom>
          <a:solidFill>
            <a:srgbClr val="8A6410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607552" y="2706624"/>
            <a:ext cx="2557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Migração do acervo nos três idiomas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369808" y="3211622"/>
            <a:ext cx="77724" cy="77724"/>
          </a:xfrm>
          <a:prstGeom prst="rect">
            <a:avLst/>
          </a:prstGeom>
          <a:solidFill>
            <a:srgbClr val="8A6410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607552" y="3108960"/>
            <a:ext cx="2557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Traduções para inglês e espanhol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369808" y="3613958"/>
            <a:ext cx="77724" cy="77724"/>
          </a:xfrm>
          <a:prstGeom prst="rect">
            <a:avLst/>
          </a:prstGeom>
          <a:solidFill>
            <a:srgbClr val="8A6410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8607552" y="3511296"/>
            <a:ext cx="2557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Acessibilidade WCAG 2.2 AA verificada a cada publicação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369808" y="4016294"/>
            <a:ext cx="77724" cy="77724"/>
          </a:xfrm>
          <a:prstGeom prst="rect">
            <a:avLst/>
          </a:prstGeom>
          <a:solidFill>
            <a:srgbClr val="8A6410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607552" y="3913632"/>
            <a:ext cx="2557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LGPD, cookies e política de privacidade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369808" y="4418630"/>
            <a:ext cx="77724" cy="77724"/>
          </a:xfrm>
          <a:prstGeom prst="rect">
            <a:avLst/>
          </a:prstGeom>
          <a:solidFill>
            <a:srgbClr val="8A6410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8607552" y="4315968"/>
            <a:ext cx="2557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Treinamento da equipe de Comunicação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8369808" y="4820966"/>
            <a:ext cx="77724" cy="77724"/>
          </a:xfrm>
          <a:prstGeom prst="rect">
            <a:avLst/>
          </a:prstGeom>
          <a:solidFill>
            <a:srgbClr val="8A6410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8607552" y="4718304"/>
            <a:ext cx="2557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Documentação e transferência de conhecimento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713232" y="5504688"/>
            <a:ext cx="10762488" cy="713232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53" name="Shape 51"/>
          <p:cNvSpPr/>
          <p:nvPr/>
        </p:nvSpPr>
        <p:spPr>
          <a:xfrm>
            <a:off x="713232" y="5504688"/>
            <a:ext cx="50292" cy="713232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1060704" y="5687568"/>
            <a:ext cx="10067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nesta lista é cobrado à parte. O que hoje é um custo mensal recorrente com o fornecedor atual passa a fazer parte do que já está contratado.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713232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institucional Alupar  ·  Bekaa</a:t>
            </a:r>
            <a:endParaRPr lang="en-US" sz="850" dirty="0"/>
          </a:p>
        </p:txBody>
      </p:sp>
      <p:sp>
        <p:nvSpPr>
          <p:cNvPr id="56" name="Text 54"/>
          <p:cNvSpPr txBox="1"/>
          <p:nvPr/>
        </p:nvSpPr>
        <p:spPr>
          <a:xfrm>
            <a:off x="10835640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75488"/>
            <a:ext cx="274320" cy="68580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5568" y="402336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79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· SITE COMO SERVIÇO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13232"/>
            <a:ext cx="10762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alternativa: a Bekaa entrega e opera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243584"/>
            <a:ext cx="9255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F7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dono técnico deixa de ser uma promessa e passa a existir por contrato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13232" y="1645920"/>
            <a:ext cx="10762488" cy="10973"/>
          </a:xfrm>
          <a:prstGeom prst="rect">
            <a:avLst/>
          </a:prstGeom>
          <a:solidFill>
            <a:srgbClr val="E2E7E4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1901952"/>
            <a:ext cx="3416808" cy="118872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901952"/>
            <a:ext cx="50292" cy="1188720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87552" y="2048256"/>
            <a:ext cx="2913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4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R$ 19.900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2578608"/>
            <a:ext cx="2913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entrada, na assinatura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6072" y="1901952"/>
            <a:ext cx="3416808" cy="118872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12" name="Shape 10"/>
          <p:cNvSpPr/>
          <p:nvPr/>
        </p:nvSpPr>
        <p:spPr>
          <a:xfrm>
            <a:off x="4386072" y="1901952"/>
            <a:ext cx="50292" cy="1188720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60392" y="2048256"/>
            <a:ext cx="2913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4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R$ 2.400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4660392" y="2578608"/>
            <a:ext cx="2913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mês, a partir da virada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58912" y="1901952"/>
            <a:ext cx="3416808" cy="1188720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16" name="Shape 14"/>
          <p:cNvSpPr/>
          <p:nvPr/>
        </p:nvSpPr>
        <p:spPr>
          <a:xfrm>
            <a:off x="8058912" y="1901952"/>
            <a:ext cx="50292" cy="1188720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33232" y="2048256"/>
            <a:ext cx="2913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9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700" dirty="0"/>
          </a:p>
        </p:txBody>
      </p:sp>
      <p:sp>
        <p:nvSpPr>
          <p:cNvPr id="18" name="Text 16"/>
          <p:cNvSpPr txBox="1"/>
          <p:nvPr/>
        </p:nvSpPr>
        <p:spPr>
          <a:xfrm>
            <a:off x="8333232" y="2578608"/>
            <a:ext cx="2913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meses de compromisso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3310128"/>
            <a:ext cx="3416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9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 no ar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13232" y="3639312"/>
            <a:ext cx="3416808" cy="10973"/>
          </a:xfrm>
          <a:prstGeom prst="rect">
            <a:avLst/>
          </a:prstGeom>
          <a:solidFill>
            <a:srgbClr val="E2E7E4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" y="3833414"/>
            <a:ext cx="77724" cy="77724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50976" y="3730752"/>
            <a:ext cx="2996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Hospedagem, domínio e certificados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13232" y="4217462"/>
            <a:ext cx="77724" cy="77724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50976" y="4114800"/>
            <a:ext cx="2996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Renovação automática, sem vencimento surpresa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13232" y="4601510"/>
            <a:ext cx="77724" cy="77724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50976" y="4498848"/>
            <a:ext cx="2996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diário, com e sem “www”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13232" y="4985558"/>
            <a:ext cx="77724" cy="77724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50976" y="4882896"/>
            <a:ext cx="2996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Cópia de segurança do conteúdo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386072" y="3310128"/>
            <a:ext cx="3416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9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Continua vivo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386072" y="3639312"/>
            <a:ext cx="3416808" cy="10973"/>
          </a:xfrm>
          <a:prstGeom prst="rect">
            <a:avLst/>
          </a:prstGeom>
          <a:solidFill>
            <a:srgbClr val="E2E7E4"/>
          </a:solidFill>
          <a:ln/>
        </p:spPr>
      </p:sp>
      <p:sp>
        <p:nvSpPr>
          <p:cNvPr id="31" name="Shape 29"/>
          <p:cNvSpPr/>
          <p:nvPr/>
        </p:nvSpPr>
        <p:spPr>
          <a:xfrm>
            <a:off x="4386072" y="3833414"/>
            <a:ext cx="77724" cy="77724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623816" y="3730752"/>
            <a:ext cx="2996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12 horas por mês para evolução e ajustes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386072" y="4217462"/>
            <a:ext cx="77724" cy="77724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623816" y="4114800"/>
            <a:ext cx="2996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Publicação assistida sempre que precisar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386072" y="4601510"/>
            <a:ext cx="77724" cy="77724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623816" y="4498848"/>
            <a:ext cx="2996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Novas páginas e seções sob demanda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386072" y="4985558"/>
            <a:ext cx="77724" cy="77724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623816" y="4882896"/>
            <a:ext cx="2996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Ajustes de conteúdo e de layout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8058912" y="3310128"/>
            <a:ext cx="3416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9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Continua correto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8058912" y="3639312"/>
            <a:ext cx="3416808" cy="10973"/>
          </a:xfrm>
          <a:prstGeom prst="rect">
            <a:avLst/>
          </a:prstGeom>
          <a:solidFill>
            <a:srgbClr val="E2E7E4"/>
          </a:solidFill>
          <a:ln/>
        </p:spPr>
      </p:sp>
      <p:sp>
        <p:nvSpPr>
          <p:cNvPr id="41" name="Shape 39"/>
          <p:cNvSpPr/>
          <p:nvPr/>
        </p:nvSpPr>
        <p:spPr>
          <a:xfrm>
            <a:off x="8058912" y="3833414"/>
            <a:ext cx="77724" cy="77724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296656" y="3730752"/>
            <a:ext cx="2996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Correções de segurança e acessibilidade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8058912" y="4217462"/>
            <a:ext cx="77724" cy="77724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296656" y="4114800"/>
            <a:ext cx="2996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Verificação automática a cada publicação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058912" y="4601510"/>
            <a:ext cx="77724" cy="77724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8296656" y="4498848"/>
            <a:ext cx="2996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trimestral de desempenho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8058912" y="4985558"/>
            <a:ext cx="77724" cy="77724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8296656" y="4882896"/>
            <a:ext cx="2996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de conteúdo obsoleto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713232" y="5413248"/>
            <a:ext cx="10762488" cy="822960"/>
          </a:xfrm>
          <a:prstGeom prst="rect">
            <a:avLst/>
          </a:prstGeom>
          <a:solidFill>
            <a:srgbClr val="E7F4EC"/>
          </a:solidFill>
          <a:ln/>
        </p:spPr>
      </p:sp>
      <p:sp>
        <p:nvSpPr>
          <p:cNvPr id="50" name="Shape 48"/>
          <p:cNvSpPr/>
          <p:nvPr/>
        </p:nvSpPr>
        <p:spPr>
          <a:xfrm>
            <a:off x="713232" y="5413248"/>
            <a:ext cx="50292" cy="822960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1060704" y="5596128"/>
            <a:ext cx="100675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novembro de 2028, ao fim do contrato, o site e todo o conteúdo saem com a Alupar — código, dados e contas em nome dela. Sem retenção, sem dependência. Foi exatamente isso que faltou da última vez.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713232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institucional Alupar  ·  Bekaa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10835640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75488"/>
            <a:ext cx="274320" cy="68580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5568" y="402336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79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· COMPARAÇÃO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13232"/>
            <a:ext cx="10762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duas formas de contratar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243584"/>
            <a:ext cx="9255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F7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 site, mesmo escopo de implantação — muda quem responde depois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13232" y="1645920"/>
            <a:ext cx="10762488" cy="10973"/>
          </a:xfrm>
          <a:prstGeom prst="rect">
            <a:avLst/>
          </a:prstGeom>
          <a:solidFill>
            <a:srgbClr val="E2E7E4"/>
          </a:solidFill>
          <a:ln/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901952"/>
          <a:ext cx="10762488" cy="914400"/>
        </p:xfrm>
        <a:graphic>
          <a:graphicData uri="http://schemas.openxmlformats.org/drawingml/2006/table">
            <a:tbl>
              <a:tblPr/>
              <a:tblGrid>
                <a:gridCol w="4160520"/>
                <a:gridCol w="3300984"/>
                <a:gridCol w="3300984"/>
              </a:tblGrid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F9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Projeto fechado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F9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Site como serviço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4F9D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Entrada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R$ 49.800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R$ 19.900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Mensalidade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R$ 2.400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Prazo de implantação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a 7 semanas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a 7 semanas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Compromisso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meses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Hospedagem, certificados e monitoramento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incluídos na implantação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incluídos, e operados pela Bekaa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SEO técnico e GEO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incluídos na implantação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incluídos, e revisados a cada trimestre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Evolução e ajustes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contratados à parte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até 12 h por mês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Plantão e relatório trimestral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incluídos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4F9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Quem responde pelo site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Alupar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Bekaa, por contrato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13232" y="5504688"/>
            <a:ext cx="10762488" cy="731520"/>
          </a:xfrm>
          <a:prstGeom prst="rect">
            <a:avLst/>
          </a:prstGeom>
          <a:solidFill>
            <a:srgbClr val="EAF1F9"/>
          </a:solidFill>
          <a:ln/>
        </p:spPr>
      </p:sp>
      <p:sp>
        <p:nvSpPr>
          <p:cNvPr id="9" name="Shape 6"/>
          <p:cNvSpPr/>
          <p:nvPr/>
        </p:nvSpPr>
        <p:spPr>
          <a:xfrm>
            <a:off x="713232" y="5504688"/>
            <a:ext cx="50292" cy="731520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60704" y="5687568"/>
            <a:ext cx="10067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projeto fechado devolve o site à Alupar em sete semanas. O site como serviço devolve o site funcionando, todo dia, pelos dois anos seguintes. As duas formas entregam o mesmo site — escolha pela pergunta “quem cuida disso na segunda-feira seguinte”.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13232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institucional Alupar  ·  Bekaa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0835640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475488"/>
            <a:ext cx="274320" cy="68580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5568" y="402336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79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· CONDIÇÕES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713232"/>
            <a:ext cx="10762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Condições e premissas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243584"/>
            <a:ext cx="9255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F7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Valem para as duas formas de contratar  ·  Proposta válida por 30 dias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13232" y="1645920"/>
            <a:ext cx="10762488" cy="10973"/>
          </a:xfrm>
          <a:prstGeom prst="rect">
            <a:avLst/>
          </a:prstGeom>
          <a:solidFill>
            <a:srgbClr val="E2E7E4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1901952"/>
            <a:ext cx="5253228" cy="2761488"/>
          </a:xfrm>
          <a:prstGeom prst="rect">
            <a:avLst/>
          </a:prstGeom>
          <a:solidFill>
            <a:srgbClr val="E7F4EC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901952"/>
            <a:ext cx="50292" cy="2761488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24128" y="2066544"/>
            <a:ext cx="46497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9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Incluído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24128" y="2573620"/>
            <a:ext cx="77724" cy="77724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61872" y="2468880"/>
            <a:ext cx="4393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Design, desenvolvimento e testes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24128" y="2939380"/>
            <a:ext cx="77724" cy="77724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61872" y="2834640"/>
            <a:ext cx="4393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Migração do acervo e dos três idiomas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24128" y="3305140"/>
            <a:ext cx="77724" cy="77724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61872" y="3200400"/>
            <a:ext cx="4393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Traduções para inglês e espanhol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24128" y="3670900"/>
            <a:ext cx="77724" cy="77724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261872" y="3566160"/>
            <a:ext cx="4393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Acessibilidade, SEO técnico e GEO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24128" y="4036660"/>
            <a:ext cx="77724" cy="77724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261872" y="3931920"/>
            <a:ext cx="4393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Infraestrutura, publicação e monitoramento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24128" y="4402420"/>
            <a:ext cx="77724" cy="77724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261872" y="4297680"/>
            <a:ext cx="4393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Treinamento e transferência de conhecimento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22492" y="1901952"/>
            <a:ext cx="5253228" cy="2761488"/>
          </a:xfrm>
          <a:prstGeom prst="rect">
            <a:avLst/>
          </a:prstGeom>
          <a:solidFill>
            <a:srgbClr val="EAF1F9"/>
          </a:solidFill>
          <a:ln/>
        </p:spPr>
      </p:sp>
      <p:sp>
        <p:nvSpPr>
          <p:cNvPr id="23" name="Shape 21"/>
          <p:cNvSpPr/>
          <p:nvPr/>
        </p:nvSpPr>
        <p:spPr>
          <a:xfrm>
            <a:off x="6222492" y="1901952"/>
            <a:ext cx="50292" cy="2761488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33388" y="2066544"/>
            <a:ext cx="46497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incluído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533388" y="2573620"/>
            <a:ext cx="77724" cy="77724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771132" y="2468880"/>
            <a:ext cx="4393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Redesenho da identidade visual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33388" y="2939380"/>
            <a:ext cx="77724" cy="77724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771132" y="2834640"/>
            <a:ext cx="4393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Produção de fotografia ou vídeo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33388" y="3305140"/>
            <a:ext cx="77724" cy="77724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771132" y="3200400"/>
            <a:ext cx="4393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Redação de conteúdo novo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33388" y="3670900"/>
            <a:ext cx="77724" cy="77724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771132" y="3566160"/>
            <a:ext cx="4393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portal de Relações com Investidores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533388" y="4036660"/>
            <a:ext cx="77724" cy="77724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771132" y="3931920"/>
            <a:ext cx="4393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Manutenção evolutiva após a entrega, salvo no formato como serviço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13232" y="4791456"/>
            <a:ext cx="5253228" cy="1572768"/>
          </a:xfrm>
          <a:prstGeom prst="rect">
            <a:avLst/>
          </a:prstGeom>
          <a:solidFill>
            <a:srgbClr val="F4F6F5"/>
          </a:solidFill>
          <a:ln/>
        </p:spPr>
      </p:sp>
      <p:sp>
        <p:nvSpPr>
          <p:cNvPr id="36" name="Shape 34"/>
          <p:cNvSpPr/>
          <p:nvPr/>
        </p:nvSpPr>
        <p:spPr>
          <a:xfrm>
            <a:off x="713232" y="4791456"/>
            <a:ext cx="50292" cy="1572768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24128" y="4956048"/>
            <a:ext cx="46497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Pagamento sugerido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1024128" y="5367528"/>
            <a:ext cx="77724" cy="77724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261872" y="5266944"/>
            <a:ext cx="43936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fechado: 20% na assinatura, 30% no M2, 30% no M4, 20% no M5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024128" y="5623560"/>
            <a:ext cx="77724" cy="77724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1261872" y="5522976"/>
            <a:ext cx="43936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como serviço: entrada na assinatura, mensalidade a partir da virada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024128" y="5879592"/>
            <a:ext cx="77724" cy="77724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261872" y="5779008"/>
            <a:ext cx="43936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Correções emergenciais faturadas à parte, na conclusão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22492" y="4791456"/>
            <a:ext cx="5253228" cy="1572768"/>
          </a:xfrm>
          <a:prstGeom prst="rect">
            <a:avLst/>
          </a:prstGeom>
          <a:solidFill>
            <a:srgbClr val="F8F0DE"/>
          </a:solidFill>
          <a:ln/>
        </p:spPr>
      </p:sp>
      <p:sp>
        <p:nvSpPr>
          <p:cNvPr id="45" name="Shape 43"/>
          <p:cNvSpPr/>
          <p:nvPr/>
        </p:nvSpPr>
        <p:spPr>
          <a:xfrm>
            <a:off x="6222492" y="4791456"/>
            <a:ext cx="50292" cy="1572768"/>
          </a:xfrm>
          <a:prstGeom prst="rect">
            <a:avLst/>
          </a:prstGeom>
          <a:solidFill>
            <a:srgbClr val="8A6410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533388" y="4956048"/>
            <a:ext cx="46497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4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Premissas de prazo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6533388" y="5367528"/>
            <a:ext cx="77724" cy="77724"/>
          </a:xfrm>
          <a:prstGeom prst="rect">
            <a:avLst/>
          </a:prstGeom>
          <a:solidFill>
            <a:srgbClr val="8A6410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771132" y="5266944"/>
            <a:ext cx="43936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Aprovações em até 3 dias úteis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533388" y="5623560"/>
            <a:ext cx="77724" cy="77724"/>
          </a:xfrm>
          <a:prstGeom prst="rect">
            <a:avLst/>
          </a:prstGeom>
          <a:solidFill>
            <a:srgbClr val="8A6410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771132" y="5522976"/>
            <a:ext cx="43936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e acessos entregues até o Marco 2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533388" y="5879592"/>
            <a:ext cx="77724" cy="77724"/>
          </a:xfrm>
          <a:prstGeom prst="rect">
            <a:avLst/>
          </a:prstGeom>
          <a:solidFill>
            <a:srgbClr val="8A6410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771132" y="5779008"/>
            <a:ext cx="43936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interlocutor por frente, nomeado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533388" y="6135624"/>
            <a:ext cx="77724" cy="77724"/>
          </a:xfrm>
          <a:prstGeom prst="rect">
            <a:avLst/>
          </a:prstGeom>
          <a:solidFill>
            <a:srgbClr val="8A6410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771132" y="6035040"/>
            <a:ext cx="43936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em português congelado no Marco 2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713232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institucional Alupar  ·  Bekaa</a:t>
            </a:r>
            <a:endParaRPr lang="en-US" sz="850" dirty="0"/>
          </a:p>
        </p:txBody>
      </p:sp>
      <p:sp>
        <p:nvSpPr>
          <p:cNvPr id="56" name="Text 54"/>
          <p:cNvSpPr txBox="1"/>
          <p:nvPr/>
        </p:nvSpPr>
        <p:spPr>
          <a:xfrm>
            <a:off x="10835640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2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2712" y="0"/>
            <a:ext cx="4206240" cy="6858000"/>
          </a:xfrm>
          <a:prstGeom prst="rect">
            <a:avLst/>
          </a:prstGeom>
          <a:solidFill>
            <a:srgbClr val="00387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982712" y="457200"/>
            <a:ext cx="42062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0" b="1" dirty="0">
                <a:solidFill>
                  <a:srgbClr val="004F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000" dirty="0"/>
          </a:p>
        </p:txBody>
      </p:sp>
      <p:sp>
        <p:nvSpPr>
          <p:cNvPr id="4" name="Shape 2"/>
          <p:cNvSpPr/>
          <p:nvPr/>
        </p:nvSpPr>
        <p:spPr>
          <a:xfrm>
            <a:off x="713232" y="786384"/>
            <a:ext cx="1554480" cy="100584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10058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13232" y="2121408"/>
            <a:ext cx="7223760" cy="731520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2121408"/>
            <a:ext cx="50292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24128" y="23134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semana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2295144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Corrigir o endereço sem “www” em https — já podemos executar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13232" y="3017520"/>
            <a:ext cx="7223760" cy="731520"/>
          </a:xfrm>
          <a:prstGeom prst="rect">
            <a:avLst/>
          </a:prstGeom>
          <a:solidFill>
            <a:srgbClr val="003872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" y="3017520"/>
            <a:ext cx="50292" cy="731520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24128" y="320954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D4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Nesta reunião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3191256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cinco nomes e as três autorizações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13232" y="3913632"/>
            <a:ext cx="7223760" cy="731520"/>
          </a:xfrm>
          <a:prstGeom prst="rect">
            <a:avLst/>
          </a:prstGeom>
          <a:solidFill>
            <a:srgbClr val="003872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3913632"/>
            <a:ext cx="50292" cy="731520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24128" y="410565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D4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a Semana 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200400" y="408736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dois números institucionais e o acesso ao Analytics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13232" y="4809744"/>
            <a:ext cx="7223760" cy="731520"/>
          </a:xfrm>
          <a:prstGeom prst="rect">
            <a:avLst/>
          </a:prstGeom>
          <a:solidFill>
            <a:srgbClr val="003872"/>
          </a:solidFill>
          <a:ln/>
        </p:spPr>
      </p:sp>
      <p:sp>
        <p:nvSpPr>
          <p:cNvPr id="19" name="Shape 17"/>
          <p:cNvSpPr/>
          <p:nvPr/>
        </p:nvSpPr>
        <p:spPr>
          <a:xfrm>
            <a:off x="713232" y="4809744"/>
            <a:ext cx="50292" cy="731520"/>
          </a:xfrm>
          <a:prstGeom prst="rect">
            <a:avLst/>
          </a:prstGeom>
          <a:solidFill>
            <a:srgbClr val="07954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24128" y="5001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D4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1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200400" y="498348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 da Descoberta, com a equipe formada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13232" y="5870448"/>
            <a:ext cx="7223760" cy="10973"/>
          </a:xfrm>
          <a:prstGeom prst="rect">
            <a:avLst/>
          </a:prstGeom>
          <a:solidFill>
            <a:srgbClr val="004F9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" y="601675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mínimo para hoje: o dono do conteúdo e a autorização das correções emergenciais.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13232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institucional Alupar  ·  Bekaa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0835640" y="63825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Bekaa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Site institucional Alupar</dc:title>
  <dc:subject>PptxGenJS Presentation</dc:subject>
  <dc:creator>Bekaa</dc:creator>
  <cp:lastModifiedBy>Bekaa</cp:lastModifiedBy>
  <cp:revision>1</cp:revision>
  <dcterms:created xsi:type="dcterms:W3CDTF">2026-09-04T01:07:32Z</dcterms:created>
  <dcterms:modified xsi:type="dcterms:W3CDTF">2026-09-04T01:07:32Z</dcterms:modified>
</cp:coreProperties>
</file>